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7" r:id="rId2"/>
    <p:sldId id="258" r:id="rId3"/>
    <p:sldId id="259" r:id="rId4"/>
    <p:sldId id="260" r:id="rId5"/>
    <p:sldId id="281" r:id="rId6"/>
    <p:sldId id="261" r:id="rId7"/>
    <p:sldId id="275" r:id="rId8"/>
    <p:sldId id="262" r:id="rId9"/>
    <p:sldId id="276" r:id="rId10"/>
    <p:sldId id="282" r:id="rId11"/>
    <p:sldId id="263" r:id="rId12"/>
    <p:sldId id="283" r:id="rId13"/>
    <p:sldId id="264" r:id="rId14"/>
    <p:sldId id="265" r:id="rId15"/>
    <p:sldId id="266" r:id="rId16"/>
    <p:sldId id="267" r:id="rId17"/>
    <p:sldId id="284" r:id="rId18"/>
    <p:sldId id="289" r:id="rId19"/>
    <p:sldId id="291" r:id="rId20"/>
    <p:sldId id="277" r:id="rId21"/>
    <p:sldId id="288" r:id="rId22"/>
    <p:sldId id="268" r:id="rId23"/>
    <p:sldId id="269" r:id="rId24"/>
    <p:sldId id="278" r:id="rId25"/>
    <p:sldId id="270" r:id="rId26"/>
    <p:sldId id="285" r:id="rId27"/>
    <p:sldId id="271" r:id="rId28"/>
    <p:sldId id="279" r:id="rId29"/>
    <p:sldId id="272" r:id="rId30"/>
    <p:sldId id="286" r:id="rId31"/>
    <p:sldId id="273" r:id="rId32"/>
    <p:sldId id="287" r:id="rId3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7" d="100"/>
          <a:sy n="77" d="100"/>
        </p:scale>
        <p:origin x="883"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6722B98-188E-45D3-9771-53015DCEA9BD}" type="datetimeFigureOut">
              <a:rPr lang="en-IN" smtClean="0"/>
              <a:t>04-02-2026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B90E2F6F-C300-48B8-AB12-E45B87785B46}" type="slidenum">
              <a:rPr lang="en-IN" smtClean="0"/>
              <a:t>‹#›</a:t>
            </a:fld>
            <a:endParaRPr lang="en-IN"/>
          </a:p>
        </p:txBody>
      </p:sp>
    </p:spTree>
    <p:extLst>
      <p:ext uri="{BB962C8B-B14F-4D97-AF65-F5344CB8AC3E}">
        <p14:creationId xmlns:p14="http://schemas.microsoft.com/office/powerpoint/2010/main" val="68169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90E2F6F-C300-48B8-AB12-E45B87785B46}" type="slidenum">
              <a:rPr lang="en-IN" smtClean="0"/>
              <a:t>6</a:t>
            </a:fld>
            <a:endParaRPr lang="en-IN"/>
          </a:p>
        </p:txBody>
      </p:sp>
    </p:spTree>
    <p:extLst>
      <p:ext uri="{BB962C8B-B14F-4D97-AF65-F5344CB8AC3E}">
        <p14:creationId xmlns:p14="http://schemas.microsoft.com/office/powerpoint/2010/main" val="532449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7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7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6" name="Holder 6"/>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7" name="Holder 7"/>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4" name="Holder 4"/>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5" name="Holder 5"/>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3" name="Holder 3"/>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4" name="Holder 4"/>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57150" y="38100"/>
            <a:ext cx="3667124" cy="504825"/>
          </a:xfrm>
          <a:prstGeom prst="rect">
            <a:avLst/>
          </a:prstGeom>
        </p:spPr>
      </p:pic>
      <p:sp>
        <p:nvSpPr>
          <p:cNvPr id="2" name="Holder 2"/>
          <p:cNvSpPr>
            <a:spLocks noGrp="1"/>
          </p:cNvSpPr>
          <p:nvPr>
            <p:ph type="title"/>
          </p:nvPr>
        </p:nvSpPr>
        <p:spPr>
          <a:xfrm>
            <a:off x="1045463" y="283463"/>
            <a:ext cx="10101072" cy="1200005"/>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917575" y="1730872"/>
            <a:ext cx="8149590" cy="3088004"/>
          </a:xfrm>
          <a:prstGeom prst="rect">
            <a:avLst/>
          </a:prstGeom>
        </p:spPr>
        <p:txBody>
          <a:bodyPr wrap="square" lIns="0" tIns="0" rIns="0" bIns="0">
            <a:spAutoFit/>
          </a:bodyPr>
          <a:lstStyle>
            <a:lvl1pPr>
              <a:defRPr sz="27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5505148" y="6451049"/>
            <a:ext cx="644525"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5" name="Holder 5"/>
          <p:cNvSpPr>
            <a:spLocks noGrp="1"/>
          </p:cNvSpPr>
          <p:nvPr>
            <p:ph type="dt" sz="half" idx="6"/>
          </p:nvPr>
        </p:nvSpPr>
        <p:spPr>
          <a:xfrm>
            <a:off x="917575" y="6451049"/>
            <a:ext cx="737235"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6" name="Holder 6"/>
          <p:cNvSpPr>
            <a:spLocks noGrp="1"/>
          </p:cNvSpPr>
          <p:nvPr>
            <p:ph type="sldNum" sz="quarter" idx="7"/>
          </p:nvPr>
        </p:nvSpPr>
        <p:spPr>
          <a:xfrm>
            <a:off x="11104626" y="6451049"/>
            <a:ext cx="215900"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xplorestaging.ieee.org/document/10504248"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www.mdpi.com/2077-0472/14/7/1052"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s://plantmethods.biomedcentral.com/articles/10.1186/s13007-025-01381-w" TargetMode="Externa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hyperlink" Target="https://www.kaggle.com/datasets/rtlmhjbn/ip02-dataset" TargetMode="External"/><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03554" y="321390"/>
            <a:ext cx="10101072" cy="1931793"/>
          </a:xfrm>
          <a:prstGeom prst="rect">
            <a:avLst/>
          </a:prstGeom>
        </p:spPr>
        <p:txBody>
          <a:bodyPr vert="horz" wrap="square" lIns="0" tIns="478010" rIns="0" bIns="0" rtlCol="0">
            <a:spAutoFit/>
          </a:bodyPr>
          <a:lstStyle/>
          <a:p>
            <a:pPr marL="248285" algn="ctr">
              <a:lnSpc>
                <a:spcPct val="100000"/>
              </a:lnSpc>
              <a:spcBef>
                <a:spcPts val="509"/>
              </a:spcBef>
            </a:pPr>
            <a:r>
              <a:rPr sz="1800" dirty="0"/>
              <a:t>Department</a:t>
            </a:r>
            <a:r>
              <a:rPr sz="1800" spc="-20" dirty="0"/>
              <a:t> </a:t>
            </a:r>
            <a:r>
              <a:rPr sz="1800" dirty="0"/>
              <a:t>of</a:t>
            </a:r>
            <a:r>
              <a:rPr sz="1800" spc="-5" dirty="0"/>
              <a:t> </a:t>
            </a:r>
            <a:r>
              <a:rPr sz="1800" dirty="0"/>
              <a:t>Computer</a:t>
            </a:r>
            <a:r>
              <a:rPr sz="1800" spc="-60" dirty="0"/>
              <a:t> </a:t>
            </a:r>
            <a:r>
              <a:rPr sz="1800" dirty="0"/>
              <a:t>Science</a:t>
            </a:r>
            <a:r>
              <a:rPr sz="1800" spc="15" dirty="0"/>
              <a:t> </a:t>
            </a:r>
            <a:r>
              <a:rPr sz="1800" dirty="0"/>
              <a:t>and</a:t>
            </a:r>
            <a:r>
              <a:rPr sz="1800" spc="40" dirty="0"/>
              <a:t> </a:t>
            </a:r>
            <a:r>
              <a:rPr sz="1800" spc="-10" dirty="0"/>
              <a:t>Engineering</a:t>
            </a:r>
            <a:endParaRPr sz="1800" dirty="0"/>
          </a:p>
          <a:p>
            <a:pPr marL="248285" algn="ctr">
              <a:lnSpc>
                <a:spcPct val="100000"/>
              </a:lnSpc>
              <a:spcBef>
                <a:spcPts val="545"/>
              </a:spcBef>
            </a:pPr>
            <a:r>
              <a:rPr lang="en-US" sz="2400" dirty="0">
                <a:solidFill>
                  <a:srgbClr val="FF0000"/>
                </a:solidFill>
              </a:rPr>
              <a:t>INTELLIGENT PEST CLASSIFICATION AND REMEDY RECOMMENDATION SYSTEM USING VISION TRANSFORMERS AND DOMAIN-AWARE SUMMARIZATION</a:t>
            </a:r>
            <a:endParaRPr sz="2400" dirty="0">
              <a:solidFill>
                <a:srgbClr val="FF0000"/>
              </a:solidFill>
            </a:endParaRPr>
          </a:p>
        </p:txBody>
      </p:sp>
      <p:sp>
        <p:nvSpPr>
          <p:cNvPr id="4" name="object 4"/>
          <p:cNvSpPr txBox="1"/>
          <p:nvPr/>
        </p:nvSpPr>
        <p:spPr>
          <a:xfrm>
            <a:off x="5719571" y="2205610"/>
            <a:ext cx="1503045" cy="254557"/>
          </a:xfrm>
          <a:prstGeom prst="rect">
            <a:avLst/>
          </a:prstGeom>
        </p:spPr>
        <p:txBody>
          <a:bodyPr vert="horz" wrap="square" lIns="0" tIns="15875" rIns="0" bIns="0" rtlCol="0">
            <a:spAutoFit/>
          </a:bodyPr>
          <a:lstStyle/>
          <a:p>
            <a:pPr marL="12700" algn="ctr">
              <a:lnSpc>
                <a:spcPct val="100000"/>
              </a:lnSpc>
              <a:spcBef>
                <a:spcPts val="125"/>
              </a:spcBef>
            </a:pPr>
            <a:r>
              <a:rPr sz="1550" dirty="0">
                <a:latin typeface="Times New Roman"/>
                <a:cs typeface="Times New Roman"/>
              </a:rPr>
              <a:t>PRESENTED</a:t>
            </a:r>
            <a:r>
              <a:rPr sz="1550" spc="175" dirty="0">
                <a:latin typeface="Times New Roman"/>
                <a:cs typeface="Times New Roman"/>
              </a:rPr>
              <a:t> </a:t>
            </a:r>
            <a:r>
              <a:rPr sz="1550" spc="-25" dirty="0">
                <a:latin typeface="Times New Roman"/>
                <a:cs typeface="Times New Roman"/>
              </a:rPr>
              <a:t>BY</a:t>
            </a:r>
            <a:endParaRPr sz="1550" dirty="0">
              <a:latin typeface="Times New Roman"/>
              <a:cs typeface="Times New Roman"/>
            </a:endParaRPr>
          </a:p>
        </p:txBody>
      </p:sp>
      <p:sp>
        <p:nvSpPr>
          <p:cNvPr id="7" name="object 7"/>
          <p:cNvSpPr txBox="1"/>
          <p:nvPr/>
        </p:nvSpPr>
        <p:spPr>
          <a:xfrm>
            <a:off x="3997340" y="4136828"/>
            <a:ext cx="4304665" cy="2249805"/>
          </a:xfrm>
          <a:prstGeom prst="rect">
            <a:avLst/>
          </a:prstGeom>
        </p:spPr>
        <p:txBody>
          <a:bodyPr vert="horz" wrap="square" lIns="0" tIns="12700" rIns="0" bIns="0" rtlCol="0">
            <a:spAutoFit/>
          </a:bodyPr>
          <a:lstStyle/>
          <a:p>
            <a:pPr algn="ctr">
              <a:lnSpc>
                <a:spcPct val="100000"/>
              </a:lnSpc>
              <a:spcBef>
                <a:spcPts val="100"/>
              </a:spcBef>
            </a:pPr>
            <a:r>
              <a:rPr sz="1800" dirty="0">
                <a:solidFill>
                  <a:srgbClr val="006600"/>
                </a:solidFill>
                <a:latin typeface="Times New Roman"/>
                <a:cs typeface="Times New Roman"/>
              </a:rPr>
              <a:t>Under</a:t>
            </a:r>
            <a:r>
              <a:rPr sz="1800" spc="20" dirty="0">
                <a:solidFill>
                  <a:srgbClr val="006600"/>
                </a:solidFill>
                <a:latin typeface="Times New Roman"/>
                <a:cs typeface="Times New Roman"/>
              </a:rPr>
              <a:t> </a:t>
            </a:r>
            <a:r>
              <a:rPr sz="1800" dirty="0">
                <a:solidFill>
                  <a:srgbClr val="006600"/>
                </a:solidFill>
                <a:latin typeface="Times New Roman"/>
                <a:cs typeface="Times New Roman"/>
              </a:rPr>
              <a:t>the</a:t>
            </a:r>
            <a:r>
              <a:rPr sz="1800" spc="-30" dirty="0">
                <a:solidFill>
                  <a:srgbClr val="006600"/>
                </a:solidFill>
                <a:latin typeface="Times New Roman"/>
                <a:cs typeface="Times New Roman"/>
              </a:rPr>
              <a:t> </a:t>
            </a:r>
            <a:r>
              <a:rPr sz="1800" dirty="0">
                <a:solidFill>
                  <a:srgbClr val="006600"/>
                </a:solidFill>
                <a:latin typeface="Times New Roman"/>
                <a:cs typeface="Times New Roman"/>
              </a:rPr>
              <a:t>Guidance</a:t>
            </a:r>
            <a:r>
              <a:rPr sz="1800" spc="-25" dirty="0">
                <a:solidFill>
                  <a:srgbClr val="006600"/>
                </a:solidFill>
                <a:latin typeface="Times New Roman"/>
                <a:cs typeface="Times New Roman"/>
              </a:rPr>
              <a:t> of,</a:t>
            </a:r>
            <a:endParaRPr sz="1800" dirty="0">
              <a:latin typeface="Times New Roman"/>
              <a:cs typeface="Times New Roman"/>
            </a:endParaRPr>
          </a:p>
          <a:p>
            <a:pPr algn="ctr">
              <a:lnSpc>
                <a:spcPct val="100000"/>
              </a:lnSpc>
              <a:spcBef>
                <a:spcPts val="1770"/>
              </a:spcBef>
            </a:pPr>
            <a:r>
              <a:rPr lang="en-IN" sz="1550" b="1" spc="-85" dirty="0">
                <a:solidFill>
                  <a:schemeClr val="tx1"/>
                </a:solidFill>
                <a:latin typeface="Times New Roman"/>
                <a:cs typeface="Times New Roman"/>
              </a:rPr>
              <a:t>M. Mounika Naga Bhavani</a:t>
            </a:r>
            <a:r>
              <a:rPr sz="1550" b="1" spc="-85" dirty="0">
                <a:solidFill>
                  <a:schemeClr val="tx1"/>
                </a:solidFill>
                <a:latin typeface="Times New Roman"/>
                <a:cs typeface="Times New Roman"/>
              </a:rPr>
              <a:t> </a:t>
            </a:r>
            <a:r>
              <a:rPr lang="en-US" sz="1575" b="1" spc="-15" baseline="-15873" dirty="0" err="1">
                <a:solidFill>
                  <a:schemeClr val="tx1"/>
                </a:solidFill>
                <a:latin typeface="Times New Roman"/>
                <a:cs typeface="Times New Roman"/>
              </a:rPr>
              <a:t>Mtech</a:t>
            </a:r>
            <a:r>
              <a:rPr sz="1550" b="1" spc="-10" dirty="0">
                <a:solidFill>
                  <a:schemeClr val="tx1"/>
                </a:solidFill>
                <a:latin typeface="Times New Roman"/>
                <a:cs typeface="Times New Roman"/>
              </a:rPr>
              <a:t>,</a:t>
            </a:r>
            <a:endParaRPr sz="1550" dirty="0">
              <a:solidFill>
                <a:schemeClr val="tx1"/>
              </a:solidFill>
              <a:latin typeface="Times New Roman"/>
              <a:cs typeface="Times New Roman"/>
            </a:endParaRPr>
          </a:p>
          <a:p>
            <a:pPr algn="ctr">
              <a:lnSpc>
                <a:spcPct val="100000"/>
              </a:lnSpc>
              <a:spcBef>
                <a:spcPts val="470"/>
              </a:spcBef>
            </a:pPr>
            <a:r>
              <a:rPr lang="en-US" sz="1550" spc="-10" dirty="0">
                <a:solidFill>
                  <a:schemeClr val="tx1"/>
                </a:solidFill>
                <a:latin typeface="Times New Roman"/>
                <a:cs typeface="Times New Roman"/>
              </a:rPr>
              <a:t>Assistant Professor,</a:t>
            </a:r>
            <a:endParaRPr sz="1550" dirty="0">
              <a:solidFill>
                <a:schemeClr val="tx1"/>
              </a:solidFill>
              <a:latin typeface="Times New Roman"/>
              <a:cs typeface="Times New Roman"/>
            </a:endParaRPr>
          </a:p>
          <a:p>
            <a:pPr algn="ctr">
              <a:lnSpc>
                <a:spcPct val="100000"/>
              </a:lnSpc>
              <a:spcBef>
                <a:spcPts val="995"/>
              </a:spcBef>
            </a:pPr>
            <a:r>
              <a:rPr sz="1550" dirty="0">
                <a:solidFill>
                  <a:schemeClr val="tx1"/>
                </a:solidFill>
                <a:latin typeface="Times New Roman"/>
                <a:cs typeface="Times New Roman"/>
              </a:rPr>
              <a:t>Department</a:t>
            </a:r>
            <a:r>
              <a:rPr sz="1550" spc="90" dirty="0">
                <a:solidFill>
                  <a:schemeClr val="tx1"/>
                </a:solidFill>
                <a:latin typeface="Times New Roman"/>
                <a:cs typeface="Times New Roman"/>
              </a:rPr>
              <a:t> </a:t>
            </a:r>
            <a:r>
              <a:rPr sz="1550" dirty="0">
                <a:solidFill>
                  <a:schemeClr val="tx1"/>
                </a:solidFill>
                <a:latin typeface="Times New Roman"/>
                <a:cs typeface="Times New Roman"/>
              </a:rPr>
              <a:t>of</a:t>
            </a:r>
            <a:r>
              <a:rPr sz="1550" spc="180" dirty="0">
                <a:solidFill>
                  <a:schemeClr val="tx1"/>
                </a:solidFill>
                <a:latin typeface="Times New Roman"/>
                <a:cs typeface="Times New Roman"/>
              </a:rPr>
              <a:t> </a:t>
            </a:r>
            <a:r>
              <a:rPr sz="1550" dirty="0">
                <a:solidFill>
                  <a:schemeClr val="tx1"/>
                </a:solidFill>
                <a:latin typeface="Times New Roman"/>
                <a:cs typeface="Times New Roman"/>
              </a:rPr>
              <a:t>Computer</a:t>
            </a:r>
            <a:r>
              <a:rPr sz="1550" spc="80" dirty="0">
                <a:solidFill>
                  <a:schemeClr val="tx1"/>
                </a:solidFill>
                <a:latin typeface="Times New Roman"/>
                <a:cs typeface="Times New Roman"/>
              </a:rPr>
              <a:t> </a:t>
            </a:r>
            <a:r>
              <a:rPr sz="1550" dirty="0">
                <a:solidFill>
                  <a:schemeClr val="tx1"/>
                </a:solidFill>
                <a:latin typeface="Times New Roman"/>
                <a:cs typeface="Times New Roman"/>
              </a:rPr>
              <a:t>Science</a:t>
            </a:r>
            <a:r>
              <a:rPr sz="1550" spc="145" dirty="0">
                <a:solidFill>
                  <a:schemeClr val="tx1"/>
                </a:solidFill>
                <a:latin typeface="Times New Roman"/>
                <a:cs typeface="Times New Roman"/>
              </a:rPr>
              <a:t> </a:t>
            </a:r>
            <a:r>
              <a:rPr sz="1550" dirty="0">
                <a:solidFill>
                  <a:schemeClr val="tx1"/>
                </a:solidFill>
                <a:latin typeface="Times New Roman"/>
                <a:cs typeface="Times New Roman"/>
              </a:rPr>
              <a:t>and</a:t>
            </a:r>
            <a:r>
              <a:rPr sz="1550" spc="135" dirty="0">
                <a:solidFill>
                  <a:schemeClr val="tx1"/>
                </a:solidFill>
                <a:latin typeface="Times New Roman"/>
                <a:cs typeface="Times New Roman"/>
              </a:rPr>
              <a:t> </a:t>
            </a:r>
            <a:r>
              <a:rPr sz="1550" spc="-10" dirty="0">
                <a:solidFill>
                  <a:schemeClr val="tx1"/>
                </a:solidFill>
                <a:latin typeface="Times New Roman"/>
                <a:cs typeface="Times New Roman"/>
              </a:rPr>
              <a:t>Engineering,</a:t>
            </a:r>
            <a:endParaRPr sz="1550" dirty="0">
              <a:solidFill>
                <a:schemeClr val="tx1"/>
              </a:solidFill>
              <a:latin typeface="Times New Roman"/>
              <a:cs typeface="Times New Roman"/>
            </a:endParaRPr>
          </a:p>
          <a:p>
            <a:pPr marL="57785" marR="61594" algn="ctr">
              <a:lnSpc>
                <a:spcPct val="173700"/>
              </a:lnSpc>
              <a:spcBef>
                <a:spcPts val="70"/>
              </a:spcBef>
            </a:pPr>
            <a:r>
              <a:rPr sz="1550" dirty="0">
                <a:solidFill>
                  <a:schemeClr val="tx1"/>
                </a:solidFill>
                <a:latin typeface="Times New Roman"/>
                <a:cs typeface="Times New Roman"/>
              </a:rPr>
              <a:t>Narasaraopeta</a:t>
            </a:r>
            <a:r>
              <a:rPr sz="1550" spc="200" dirty="0">
                <a:solidFill>
                  <a:schemeClr val="tx1"/>
                </a:solidFill>
                <a:latin typeface="Times New Roman"/>
                <a:cs typeface="Times New Roman"/>
              </a:rPr>
              <a:t> </a:t>
            </a:r>
            <a:r>
              <a:rPr sz="1550" dirty="0">
                <a:solidFill>
                  <a:schemeClr val="tx1"/>
                </a:solidFill>
                <a:latin typeface="Times New Roman"/>
                <a:cs typeface="Times New Roman"/>
              </a:rPr>
              <a:t>Engineering</a:t>
            </a:r>
            <a:r>
              <a:rPr sz="1550" spc="185" dirty="0">
                <a:solidFill>
                  <a:schemeClr val="tx1"/>
                </a:solidFill>
                <a:latin typeface="Times New Roman"/>
                <a:cs typeface="Times New Roman"/>
              </a:rPr>
              <a:t> </a:t>
            </a:r>
            <a:r>
              <a:rPr sz="1550" dirty="0">
                <a:solidFill>
                  <a:schemeClr val="tx1"/>
                </a:solidFill>
                <a:latin typeface="Times New Roman"/>
                <a:cs typeface="Times New Roman"/>
              </a:rPr>
              <a:t>College</a:t>
            </a:r>
            <a:r>
              <a:rPr sz="1550" spc="204" dirty="0">
                <a:solidFill>
                  <a:schemeClr val="tx1"/>
                </a:solidFill>
                <a:latin typeface="Times New Roman"/>
                <a:cs typeface="Times New Roman"/>
              </a:rPr>
              <a:t> </a:t>
            </a:r>
            <a:r>
              <a:rPr sz="1550" spc="-10" dirty="0">
                <a:solidFill>
                  <a:schemeClr val="tx1"/>
                </a:solidFill>
                <a:latin typeface="Times New Roman"/>
                <a:cs typeface="Times New Roman"/>
              </a:rPr>
              <a:t>(Autonomous), </a:t>
            </a:r>
            <a:r>
              <a:rPr sz="1550" dirty="0">
                <a:solidFill>
                  <a:schemeClr val="tx1"/>
                </a:solidFill>
                <a:latin typeface="Times New Roman"/>
                <a:cs typeface="Times New Roman"/>
              </a:rPr>
              <a:t>Narasaraopet-</a:t>
            </a:r>
            <a:r>
              <a:rPr sz="1550" spc="150" dirty="0">
                <a:solidFill>
                  <a:schemeClr val="tx1"/>
                </a:solidFill>
                <a:latin typeface="Times New Roman"/>
                <a:cs typeface="Times New Roman"/>
              </a:rPr>
              <a:t> </a:t>
            </a:r>
            <a:r>
              <a:rPr sz="1550" dirty="0">
                <a:solidFill>
                  <a:schemeClr val="tx1"/>
                </a:solidFill>
                <a:latin typeface="Times New Roman"/>
                <a:cs typeface="Times New Roman"/>
              </a:rPr>
              <a:t>522</a:t>
            </a:r>
            <a:r>
              <a:rPr sz="1550" spc="150" dirty="0">
                <a:solidFill>
                  <a:schemeClr val="tx1"/>
                </a:solidFill>
                <a:latin typeface="Times New Roman"/>
                <a:cs typeface="Times New Roman"/>
              </a:rPr>
              <a:t> </a:t>
            </a:r>
            <a:r>
              <a:rPr sz="1550" spc="-20" dirty="0">
                <a:solidFill>
                  <a:schemeClr val="tx1"/>
                </a:solidFill>
                <a:latin typeface="Times New Roman"/>
                <a:cs typeface="Times New Roman"/>
              </a:rPr>
              <a:t>601.</a:t>
            </a:r>
            <a:endParaRPr sz="1550" dirty="0">
              <a:solidFill>
                <a:schemeClr val="tx1"/>
              </a:solidFill>
              <a:latin typeface="Times New Roman"/>
              <a:cs typeface="Times New Roman"/>
            </a:endParaRPr>
          </a:p>
        </p:txBody>
      </p:sp>
      <p:pic>
        <p:nvPicPr>
          <p:cNvPr id="8" name="object 8"/>
          <p:cNvPicPr/>
          <p:nvPr/>
        </p:nvPicPr>
        <p:blipFill>
          <a:blip r:embed="rId2" cstate="print"/>
          <a:stretch>
            <a:fillRect/>
          </a:stretch>
        </p:blipFill>
        <p:spPr>
          <a:xfrm>
            <a:off x="66675" y="131344"/>
            <a:ext cx="3648074" cy="505326"/>
          </a:xfrm>
          <a:prstGeom prst="rect">
            <a:avLst/>
          </a:prstGeom>
        </p:spPr>
      </p:pic>
      <p:sp>
        <p:nvSpPr>
          <p:cNvPr id="9" name="object 9"/>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US" spc="-10" dirty="0"/>
              <a:t>12-10-2025</a:t>
            </a:r>
            <a:endParaRPr spc="-20" dirty="0"/>
          </a:p>
        </p:txBody>
      </p:sp>
      <p:sp>
        <p:nvSpPr>
          <p:cNvPr id="10" name="object 10"/>
          <p:cNvSpPr txBox="1"/>
          <p:nvPr/>
        </p:nvSpPr>
        <p:spPr>
          <a:xfrm>
            <a:off x="4429378" y="6451049"/>
            <a:ext cx="828422" cy="179536"/>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r>
              <a:rPr lang="en-US" sz="1200" spc="-25" dirty="0">
                <a:solidFill>
                  <a:srgbClr val="888888"/>
                </a:solidFill>
                <a:latin typeface="Times New Roman"/>
                <a:cs typeface="Times New Roman"/>
              </a:rPr>
              <a:t>1</a:t>
            </a:r>
            <a:endParaRPr sz="1200" dirty="0">
              <a:latin typeface="Times New Roman"/>
              <a:cs typeface="Times New Roman"/>
            </a:endParaRPr>
          </a:p>
        </p:txBody>
      </p:sp>
      <p:sp>
        <p:nvSpPr>
          <p:cNvPr id="11" name="object 11"/>
          <p:cNvSpPr txBox="1">
            <a:spLocks noGrp="1"/>
          </p:cNvSpPr>
          <p:nvPr>
            <p:ph type="ftr" sz="quarter" idx="5"/>
          </p:nvPr>
        </p:nvSpPr>
        <p:spPr>
          <a:xfrm>
            <a:off x="6611111" y="6465822"/>
            <a:ext cx="1223010" cy="179536"/>
          </a:xfrm>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r>
              <a:rPr lang="en-US" spc="-25" dirty="0"/>
              <a:t>:BG2</a:t>
            </a:r>
            <a:r>
              <a:rPr spc="-25" dirty="0"/>
              <a:t>.</a:t>
            </a:r>
          </a:p>
        </p:txBody>
      </p:sp>
      <p:sp>
        <p:nvSpPr>
          <p:cNvPr id="12" name="object 12"/>
          <p:cNvSpPr txBox="1"/>
          <p:nvPr/>
        </p:nvSpPr>
        <p:spPr>
          <a:xfrm>
            <a:off x="9108138"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dirty="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a:t>
            </a:fld>
            <a:endParaRPr spc="-25" dirty="0"/>
          </a:p>
        </p:txBody>
      </p:sp>
      <p:graphicFrame>
        <p:nvGraphicFramePr>
          <p:cNvPr id="14" name="Table 13">
            <a:extLst>
              <a:ext uri="{FF2B5EF4-FFF2-40B4-BE49-F238E27FC236}">
                <a16:creationId xmlns:a16="http://schemas.microsoft.com/office/drawing/2014/main" id="{8D57E6D3-2FB2-0B6F-3A2C-FF9A4716A00A}"/>
              </a:ext>
            </a:extLst>
          </p:cNvPr>
          <p:cNvGraphicFramePr>
            <a:graphicFrameLocks noGrp="1"/>
          </p:cNvGraphicFramePr>
          <p:nvPr>
            <p:extLst>
              <p:ext uri="{D42A27DB-BD31-4B8C-83A1-F6EECF244321}">
                <p14:modId xmlns:p14="http://schemas.microsoft.com/office/powerpoint/2010/main" val="3576301706"/>
              </p:ext>
            </p:extLst>
          </p:nvPr>
        </p:nvGraphicFramePr>
        <p:xfrm>
          <a:off x="2085672" y="2638745"/>
          <a:ext cx="8128000" cy="1112520"/>
        </p:xfrm>
        <a:graphic>
          <a:graphicData uri="http://schemas.openxmlformats.org/drawingml/2006/table">
            <a:tbl>
              <a:tblPr firstRow="1" bandRow="1">
                <a:tableStyleId>{2D5ABB26-0587-4C30-8999-92F81FD0307C}</a:tableStyleId>
              </a:tblPr>
              <a:tblGrid>
                <a:gridCol w="3705528">
                  <a:extLst>
                    <a:ext uri="{9D8B030D-6E8A-4147-A177-3AD203B41FA5}">
                      <a16:colId xmlns:a16="http://schemas.microsoft.com/office/drawing/2014/main" val="1481363645"/>
                    </a:ext>
                  </a:extLst>
                </a:gridCol>
                <a:gridCol w="4422472">
                  <a:extLst>
                    <a:ext uri="{9D8B030D-6E8A-4147-A177-3AD203B41FA5}">
                      <a16:colId xmlns:a16="http://schemas.microsoft.com/office/drawing/2014/main" val="2338566568"/>
                    </a:ext>
                  </a:extLst>
                </a:gridCol>
              </a:tblGrid>
              <a:tr h="370840">
                <a:tc>
                  <a:txBody>
                    <a:bodyPr/>
                    <a:lstStyle/>
                    <a:p>
                      <a:pPr algn="ctr"/>
                      <a:r>
                        <a:rPr lang="en-US" dirty="0"/>
                        <a:t>Satwika Jahnavi Chakka            :</a:t>
                      </a:r>
                    </a:p>
                  </a:txBody>
                  <a:tcPr/>
                </a:tc>
                <a:tc>
                  <a:txBody>
                    <a:bodyPr/>
                    <a:lstStyle/>
                    <a:p>
                      <a:pPr algn="ctr"/>
                      <a:r>
                        <a:rPr lang="en-US" dirty="0"/>
                        <a:t>22471A0580</a:t>
                      </a:r>
                    </a:p>
                  </a:txBody>
                  <a:tcPr/>
                </a:tc>
                <a:extLst>
                  <a:ext uri="{0D108BD9-81ED-4DB2-BD59-A6C34878D82A}">
                    <a16:rowId xmlns:a16="http://schemas.microsoft.com/office/drawing/2014/main" val="1396550720"/>
                  </a:ext>
                </a:extLst>
              </a:tr>
              <a:tr h="370840">
                <a:tc>
                  <a:txBody>
                    <a:bodyPr/>
                    <a:lstStyle/>
                    <a:p>
                      <a:pPr algn="ctr"/>
                      <a:r>
                        <a:rPr lang="en-US" dirty="0" err="1"/>
                        <a:t>Thrisony</a:t>
                      </a:r>
                      <a:r>
                        <a:rPr lang="en-US" dirty="0"/>
                        <a:t> Gayam                         :</a:t>
                      </a:r>
                    </a:p>
                  </a:txBody>
                  <a:tcPr/>
                </a:tc>
                <a:tc>
                  <a:txBody>
                    <a:bodyPr/>
                    <a:lstStyle/>
                    <a:p>
                      <a:pPr algn="ctr"/>
                      <a:r>
                        <a:rPr lang="en-US" dirty="0"/>
                        <a:t>22471A0590</a:t>
                      </a:r>
                    </a:p>
                  </a:txBody>
                  <a:tcPr/>
                </a:tc>
                <a:extLst>
                  <a:ext uri="{0D108BD9-81ED-4DB2-BD59-A6C34878D82A}">
                    <a16:rowId xmlns:a16="http://schemas.microsoft.com/office/drawing/2014/main" val="2219575761"/>
                  </a:ext>
                </a:extLst>
              </a:tr>
              <a:tr h="370840">
                <a:tc>
                  <a:txBody>
                    <a:bodyPr/>
                    <a:lstStyle/>
                    <a:p>
                      <a:pPr algn="ctr"/>
                      <a:r>
                        <a:rPr lang="en-US" dirty="0"/>
                        <a:t>Jahnavi Kappa                            :</a:t>
                      </a:r>
                    </a:p>
                  </a:txBody>
                  <a:tcPr/>
                </a:tc>
                <a:tc>
                  <a:txBody>
                    <a:bodyPr/>
                    <a:lstStyle/>
                    <a:p>
                      <a:pPr algn="ctr"/>
                      <a:r>
                        <a:rPr lang="en-US" dirty="0"/>
                        <a:t>22471A05A1</a:t>
                      </a:r>
                    </a:p>
                  </a:txBody>
                  <a:tcPr/>
                </a:tc>
                <a:extLst>
                  <a:ext uri="{0D108BD9-81ED-4DB2-BD59-A6C34878D82A}">
                    <a16:rowId xmlns:a16="http://schemas.microsoft.com/office/drawing/2014/main" val="239831226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69255" y="529843"/>
            <a:ext cx="2613025" cy="701040"/>
          </a:xfrm>
          <a:prstGeom prst="rect">
            <a:avLst/>
          </a:prstGeom>
        </p:spPr>
        <p:txBody>
          <a:bodyPr vert="horz" wrap="square" lIns="0" tIns="16510" rIns="0" bIns="0" rtlCol="0">
            <a:spAutoFit/>
          </a:bodyPr>
          <a:lstStyle/>
          <a:p>
            <a:pPr marL="12700">
              <a:lnSpc>
                <a:spcPct val="100000"/>
              </a:lnSpc>
              <a:spcBef>
                <a:spcPts val="130"/>
              </a:spcBef>
            </a:pPr>
            <a:r>
              <a:rPr spc="-10" dirty="0"/>
              <a:t>OUTLINE</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a:t>
            </a:fld>
            <a:endParaRPr spc="-25" dirty="0"/>
          </a:p>
        </p:txBody>
      </p:sp>
      <p:sp>
        <p:nvSpPr>
          <p:cNvPr id="3" name="object 3"/>
          <p:cNvSpPr txBox="1"/>
          <p:nvPr/>
        </p:nvSpPr>
        <p:spPr>
          <a:xfrm>
            <a:off x="917575" y="1173924"/>
            <a:ext cx="3450590" cy="4508500"/>
          </a:xfrm>
          <a:prstGeom prst="rect">
            <a:avLst/>
          </a:prstGeom>
        </p:spPr>
        <p:txBody>
          <a:bodyPr vert="horz" wrap="square" lIns="0" tIns="62230" rIns="0" bIns="0" rtlCol="0">
            <a:spAutoFit/>
          </a:bodyPr>
          <a:lstStyle/>
          <a:p>
            <a:pPr marL="527050" indent="-514350">
              <a:lnSpc>
                <a:spcPct val="100000"/>
              </a:lnSpc>
              <a:spcBef>
                <a:spcPts val="490"/>
              </a:spcBef>
              <a:buAutoNum type="arabicPeriod"/>
              <a:tabLst>
                <a:tab pos="527050" algn="l"/>
              </a:tabLst>
            </a:pPr>
            <a:r>
              <a:rPr sz="1800" spc="-10" dirty="0">
                <a:latin typeface="Times New Roman"/>
                <a:cs typeface="Times New Roman"/>
              </a:rPr>
              <a:t>Abstract</a:t>
            </a:r>
            <a:endParaRPr sz="1800">
              <a:latin typeface="Times New Roman"/>
              <a:cs typeface="Times New Roman"/>
            </a:endParaRPr>
          </a:p>
          <a:p>
            <a:pPr marL="527050" indent="-514350">
              <a:lnSpc>
                <a:spcPct val="100000"/>
              </a:lnSpc>
              <a:spcBef>
                <a:spcPts val="390"/>
              </a:spcBef>
              <a:buAutoNum type="arabicPeriod"/>
              <a:tabLst>
                <a:tab pos="527050" algn="l"/>
              </a:tabLst>
            </a:pPr>
            <a:r>
              <a:rPr sz="1800" spc="-10" dirty="0">
                <a:latin typeface="Times New Roman"/>
                <a:cs typeface="Times New Roman"/>
              </a:rPr>
              <a:t>Introduction</a:t>
            </a:r>
            <a:endParaRPr sz="1800">
              <a:latin typeface="Times New Roman"/>
              <a:cs typeface="Times New Roman"/>
            </a:endParaRPr>
          </a:p>
          <a:p>
            <a:pPr marL="527050" indent="-514350">
              <a:lnSpc>
                <a:spcPct val="100000"/>
              </a:lnSpc>
              <a:spcBef>
                <a:spcPts val="320"/>
              </a:spcBef>
              <a:buAutoNum type="arabicPeriod"/>
              <a:tabLst>
                <a:tab pos="527050" algn="l"/>
              </a:tabLst>
            </a:pPr>
            <a:r>
              <a:rPr sz="1800" dirty="0">
                <a:latin typeface="Times New Roman"/>
                <a:cs typeface="Times New Roman"/>
              </a:rPr>
              <a:t>Literature</a:t>
            </a:r>
            <a:r>
              <a:rPr sz="1800" spc="-10" dirty="0">
                <a:latin typeface="Times New Roman"/>
                <a:cs typeface="Times New Roman"/>
              </a:rPr>
              <a:t> Survey</a:t>
            </a:r>
            <a:endParaRPr sz="1800">
              <a:latin typeface="Times New Roman"/>
              <a:cs typeface="Times New Roman"/>
            </a:endParaRPr>
          </a:p>
          <a:p>
            <a:pPr marL="527050" indent="-514350">
              <a:lnSpc>
                <a:spcPct val="100000"/>
              </a:lnSpc>
              <a:spcBef>
                <a:spcPts val="395"/>
              </a:spcBef>
              <a:buAutoNum type="arabicPeriod"/>
              <a:tabLst>
                <a:tab pos="527050" algn="l"/>
              </a:tabLst>
            </a:pPr>
            <a:r>
              <a:rPr sz="1800" dirty="0">
                <a:latin typeface="Times New Roman"/>
                <a:cs typeface="Times New Roman"/>
              </a:rPr>
              <a:t>Research</a:t>
            </a:r>
            <a:r>
              <a:rPr sz="1800" spc="-40" dirty="0">
                <a:latin typeface="Times New Roman"/>
                <a:cs typeface="Times New Roman"/>
              </a:rPr>
              <a:t> </a:t>
            </a:r>
            <a:r>
              <a:rPr sz="1800" spc="-20" dirty="0">
                <a:latin typeface="Times New Roman"/>
                <a:cs typeface="Times New Roman"/>
              </a:rPr>
              <a:t>Gaps</a:t>
            </a:r>
            <a:endParaRPr sz="1800">
              <a:latin typeface="Times New Roman"/>
              <a:cs typeface="Times New Roman"/>
            </a:endParaRPr>
          </a:p>
          <a:p>
            <a:pPr marL="527050" indent="-514350">
              <a:lnSpc>
                <a:spcPct val="100000"/>
              </a:lnSpc>
              <a:spcBef>
                <a:spcPts val="320"/>
              </a:spcBef>
              <a:buAutoNum type="arabicPeriod"/>
              <a:tabLst>
                <a:tab pos="527050" algn="l"/>
              </a:tabLst>
            </a:pPr>
            <a:r>
              <a:rPr sz="1800" dirty="0">
                <a:latin typeface="Times New Roman"/>
                <a:cs typeface="Times New Roman"/>
              </a:rPr>
              <a:t>Problem</a:t>
            </a:r>
            <a:r>
              <a:rPr sz="1800" spc="-50" dirty="0">
                <a:latin typeface="Times New Roman"/>
                <a:cs typeface="Times New Roman"/>
              </a:rPr>
              <a:t> </a:t>
            </a:r>
            <a:r>
              <a:rPr sz="1800" spc="-10" dirty="0">
                <a:latin typeface="Times New Roman"/>
                <a:cs typeface="Times New Roman"/>
              </a:rPr>
              <a:t>Statement</a:t>
            </a:r>
            <a:endParaRPr sz="1800">
              <a:latin typeface="Times New Roman"/>
              <a:cs typeface="Times New Roman"/>
            </a:endParaRPr>
          </a:p>
          <a:p>
            <a:pPr marL="527050" indent="-514350">
              <a:lnSpc>
                <a:spcPct val="100000"/>
              </a:lnSpc>
              <a:spcBef>
                <a:spcPts val="390"/>
              </a:spcBef>
              <a:buAutoNum type="arabicPeriod"/>
              <a:tabLst>
                <a:tab pos="527050" algn="l"/>
              </a:tabLst>
            </a:pPr>
            <a:r>
              <a:rPr sz="1800" spc="-10" dirty="0">
                <a:latin typeface="Times New Roman"/>
                <a:cs typeface="Times New Roman"/>
              </a:rPr>
              <a:t>Objectives</a:t>
            </a:r>
            <a:endParaRPr sz="1800">
              <a:latin typeface="Times New Roman"/>
              <a:cs typeface="Times New Roman"/>
            </a:endParaRPr>
          </a:p>
          <a:p>
            <a:pPr marL="527050" indent="-514350">
              <a:lnSpc>
                <a:spcPct val="100000"/>
              </a:lnSpc>
              <a:spcBef>
                <a:spcPts val="320"/>
              </a:spcBef>
              <a:buAutoNum type="arabicPeriod"/>
              <a:tabLst>
                <a:tab pos="527050" algn="l"/>
              </a:tabLst>
            </a:pPr>
            <a:r>
              <a:rPr sz="1800" dirty="0">
                <a:latin typeface="Times New Roman"/>
                <a:cs typeface="Times New Roman"/>
              </a:rPr>
              <a:t>Block</a:t>
            </a:r>
            <a:r>
              <a:rPr sz="1800" spc="-10" dirty="0">
                <a:latin typeface="Times New Roman"/>
                <a:cs typeface="Times New Roman"/>
              </a:rPr>
              <a:t> </a:t>
            </a:r>
            <a:r>
              <a:rPr sz="1800" dirty="0">
                <a:latin typeface="Times New Roman"/>
                <a:cs typeface="Times New Roman"/>
              </a:rPr>
              <a:t>Diagram</a:t>
            </a:r>
            <a:r>
              <a:rPr sz="1800" spc="-55" dirty="0">
                <a:latin typeface="Times New Roman"/>
                <a:cs typeface="Times New Roman"/>
              </a:rPr>
              <a:t> </a:t>
            </a:r>
            <a:r>
              <a:rPr sz="1800" dirty="0">
                <a:latin typeface="Times New Roman"/>
                <a:cs typeface="Times New Roman"/>
              </a:rPr>
              <a:t>/</a:t>
            </a:r>
            <a:r>
              <a:rPr sz="1800" spc="10" dirty="0">
                <a:latin typeface="Times New Roman"/>
                <a:cs typeface="Times New Roman"/>
              </a:rPr>
              <a:t> </a:t>
            </a:r>
            <a:r>
              <a:rPr sz="1800" dirty="0">
                <a:latin typeface="Times New Roman"/>
                <a:cs typeface="Times New Roman"/>
              </a:rPr>
              <a:t>Flow</a:t>
            </a:r>
            <a:r>
              <a:rPr sz="1800" spc="-30" dirty="0">
                <a:latin typeface="Times New Roman"/>
                <a:cs typeface="Times New Roman"/>
              </a:rPr>
              <a:t> </a:t>
            </a:r>
            <a:r>
              <a:rPr sz="1800" spc="-10" dirty="0">
                <a:latin typeface="Times New Roman"/>
                <a:cs typeface="Times New Roman"/>
              </a:rPr>
              <a:t>Diagram</a:t>
            </a:r>
            <a:endParaRPr sz="1800">
              <a:latin typeface="Times New Roman"/>
              <a:cs typeface="Times New Roman"/>
            </a:endParaRPr>
          </a:p>
          <a:p>
            <a:pPr marL="527050" indent="-514350">
              <a:lnSpc>
                <a:spcPct val="100000"/>
              </a:lnSpc>
              <a:spcBef>
                <a:spcPts val="390"/>
              </a:spcBef>
              <a:buAutoNum type="arabicPeriod"/>
              <a:tabLst>
                <a:tab pos="527050" algn="l"/>
              </a:tabLst>
            </a:pPr>
            <a:r>
              <a:rPr sz="1800" spc="-10" dirty="0">
                <a:latin typeface="Times New Roman"/>
                <a:cs typeface="Times New Roman"/>
              </a:rPr>
              <a:t>Methodology</a:t>
            </a:r>
            <a:endParaRPr sz="1800">
              <a:latin typeface="Times New Roman"/>
              <a:cs typeface="Times New Roman"/>
            </a:endParaRPr>
          </a:p>
          <a:p>
            <a:pPr marL="527050" indent="-514350">
              <a:lnSpc>
                <a:spcPct val="100000"/>
              </a:lnSpc>
              <a:spcBef>
                <a:spcPts val="320"/>
              </a:spcBef>
              <a:buAutoNum type="arabicPeriod"/>
              <a:tabLst>
                <a:tab pos="527050" algn="l"/>
              </a:tabLst>
            </a:pPr>
            <a:r>
              <a:rPr sz="1800" spc="-10" dirty="0">
                <a:latin typeface="Times New Roman"/>
                <a:cs typeface="Times New Roman"/>
              </a:rPr>
              <a:t>Implementation</a:t>
            </a:r>
            <a:endParaRPr sz="1800">
              <a:latin typeface="Times New Roman"/>
              <a:cs typeface="Times New Roman"/>
            </a:endParaRPr>
          </a:p>
          <a:p>
            <a:pPr marL="527050" indent="-514350">
              <a:lnSpc>
                <a:spcPct val="100000"/>
              </a:lnSpc>
              <a:spcBef>
                <a:spcPts val="395"/>
              </a:spcBef>
              <a:buAutoNum type="arabicPeriod"/>
              <a:tabLst>
                <a:tab pos="527050" algn="l"/>
              </a:tabLst>
            </a:pPr>
            <a:r>
              <a:rPr sz="1800" dirty="0">
                <a:latin typeface="Times New Roman"/>
                <a:cs typeface="Times New Roman"/>
              </a:rPr>
              <a:t>Results</a:t>
            </a:r>
            <a:r>
              <a:rPr sz="1800" spc="10" dirty="0">
                <a:latin typeface="Times New Roman"/>
                <a:cs typeface="Times New Roman"/>
              </a:rPr>
              <a:t> </a:t>
            </a:r>
            <a:r>
              <a:rPr sz="1800" spc="-20" dirty="0">
                <a:latin typeface="Times New Roman"/>
                <a:cs typeface="Times New Roman"/>
              </a:rPr>
              <a:t>and</a:t>
            </a:r>
            <a:r>
              <a:rPr sz="1800" spc="-90" dirty="0">
                <a:latin typeface="Times New Roman"/>
                <a:cs typeface="Times New Roman"/>
              </a:rPr>
              <a:t> </a:t>
            </a:r>
            <a:r>
              <a:rPr sz="1800" spc="-10" dirty="0">
                <a:latin typeface="Times New Roman"/>
                <a:cs typeface="Times New Roman"/>
              </a:rPr>
              <a:t>Analysis</a:t>
            </a:r>
            <a:endParaRPr sz="1800">
              <a:latin typeface="Times New Roman"/>
              <a:cs typeface="Times New Roman"/>
            </a:endParaRPr>
          </a:p>
          <a:p>
            <a:pPr marL="527050" indent="-514350">
              <a:lnSpc>
                <a:spcPct val="100000"/>
              </a:lnSpc>
              <a:spcBef>
                <a:spcPts val="315"/>
              </a:spcBef>
              <a:buAutoNum type="arabicPeriod"/>
              <a:tabLst>
                <a:tab pos="527050" algn="l"/>
              </a:tabLst>
            </a:pPr>
            <a:r>
              <a:rPr sz="1800" dirty="0">
                <a:latin typeface="Times New Roman"/>
                <a:cs typeface="Times New Roman"/>
              </a:rPr>
              <a:t>Conclusion</a:t>
            </a:r>
            <a:r>
              <a:rPr sz="1800" spc="-20" dirty="0">
                <a:latin typeface="Times New Roman"/>
                <a:cs typeface="Times New Roman"/>
              </a:rPr>
              <a:t> </a:t>
            </a:r>
            <a:r>
              <a:rPr sz="1800" dirty="0">
                <a:latin typeface="Times New Roman"/>
                <a:cs typeface="Times New Roman"/>
              </a:rPr>
              <a:t>&amp;</a:t>
            </a:r>
            <a:r>
              <a:rPr sz="1800" spc="-5" dirty="0">
                <a:latin typeface="Times New Roman"/>
                <a:cs typeface="Times New Roman"/>
              </a:rPr>
              <a:t> </a:t>
            </a:r>
            <a:r>
              <a:rPr sz="1800" dirty="0">
                <a:latin typeface="Times New Roman"/>
                <a:cs typeface="Times New Roman"/>
              </a:rPr>
              <a:t>Future </a:t>
            </a:r>
            <a:r>
              <a:rPr sz="1800" spc="-20" dirty="0">
                <a:latin typeface="Times New Roman"/>
                <a:cs typeface="Times New Roman"/>
              </a:rPr>
              <a:t>Scope</a:t>
            </a:r>
            <a:endParaRPr sz="1800">
              <a:latin typeface="Times New Roman"/>
              <a:cs typeface="Times New Roman"/>
            </a:endParaRPr>
          </a:p>
          <a:p>
            <a:pPr marL="527050" indent="-514350">
              <a:lnSpc>
                <a:spcPct val="100000"/>
              </a:lnSpc>
              <a:spcBef>
                <a:spcPts val="400"/>
              </a:spcBef>
              <a:buAutoNum type="arabicPeriod"/>
              <a:tabLst>
                <a:tab pos="527050" algn="l"/>
              </a:tabLst>
            </a:pPr>
            <a:r>
              <a:rPr sz="1800" spc="-10" dirty="0">
                <a:latin typeface="Times New Roman"/>
                <a:cs typeface="Times New Roman"/>
              </a:rPr>
              <a:t>References</a:t>
            </a:r>
            <a:endParaRPr sz="1800">
              <a:latin typeface="Times New Roman"/>
              <a:cs typeface="Times New Roman"/>
            </a:endParaRPr>
          </a:p>
          <a:p>
            <a:pPr marL="527050" indent="-514350">
              <a:lnSpc>
                <a:spcPct val="100000"/>
              </a:lnSpc>
              <a:spcBef>
                <a:spcPts val="315"/>
              </a:spcBef>
              <a:buAutoNum type="arabicPeriod"/>
              <a:tabLst>
                <a:tab pos="527050" algn="l"/>
              </a:tabLst>
            </a:pPr>
            <a:r>
              <a:rPr sz="1800" dirty="0">
                <a:latin typeface="Times New Roman"/>
                <a:cs typeface="Times New Roman"/>
              </a:rPr>
              <a:t>Question </a:t>
            </a:r>
            <a:r>
              <a:rPr sz="1800" spc="-20" dirty="0">
                <a:latin typeface="Times New Roman"/>
                <a:cs typeface="Times New Roman"/>
              </a:rPr>
              <a:t>and</a:t>
            </a:r>
            <a:r>
              <a:rPr sz="1800" spc="-75" dirty="0">
                <a:latin typeface="Times New Roman"/>
                <a:cs typeface="Times New Roman"/>
              </a:rPr>
              <a:t> </a:t>
            </a:r>
            <a:r>
              <a:rPr sz="1800" spc="-10" dirty="0">
                <a:latin typeface="Times New Roman"/>
                <a:cs typeface="Times New Roman"/>
              </a:rPr>
              <a:t>Answers</a:t>
            </a:r>
            <a:endParaRPr sz="1800">
              <a:latin typeface="Times New Roman"/>
              <a:cs typeface="Times New Roman"/>
            </a:endParaRPr>
          </a:p>
          <a:p>
            <a:pPr marL="527050" indent="-514350">
              <a:lnSpc>
                <a:spcPct val="100000"/>
              </a:lnSpc>
              <a:spcBef>
                <a:spcPts val="395"/>
              </a:spcBef>
              <a:buAutoNum type="arabicPeriod"/>
              <a:tabLst>
                <a:tab pos="527050" algn="l"/>
              </a:tabLst>
            </a:pPr>
            <a:r>
              <a:rPr sz="1800" spc="-10" dirty="0">
                <a:latin typeface="Times New Roman"/>
                <a:cs typeface="Times New Roman"/>
              </a:rPr>
              <a:t>Acknowledgements</a:t>
            </a:r>
            <a:endParaRPr sz="18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3703320">
              <a:lnSpc>
                <a:spcPct val="100000"/>
              </a:lnSpc>
              <a:spcBef>
                <a:spcPts val="130"/>
              </a:spcBef>
            </a:pPr>
            <a:r>
              <a:rPr spc="-10" dirty="0"/>
              <a:t>ABSTRACT</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a:t>
            </a:fld>
            <a:endParaRPr spc="-25" dirty="0"/>
          </a:p>
        </p:txBody>
      </p:sp>
      <p:sp>
        <p:nvSpPr>
          <p:cNvPr id="22" name="TextBox 21">
            <a:extLst>
              <a:ext uri="{FF2B5EF4-FFF2-40B4-BE49-F238E27FC236}">
                <a16:creationId xmlns:a16="http://schemas.microsoft.com/office/drawing/2014/main" id="{20465440-E481-F53A-B2DA-9C772BFBC643}"/>
              </a:ext>
            </a:extLst>
          </p:cNvPr>
          <p:cNvSpPr txBox="1"/>
          <p:nvPr/>
        </p:nvSpPr>
        <p:spPr>
          <a:xfrm>
            <a:off x="685800" y="762000"/>
            <a:ext cx="10460735" cy="1224181"/>
          </a:xfrm>
          <a:prstGeom prst="rect">
            <a:avLst/>
          </a:prstGeom>
          <a:noFill/>
        </p:spPr>
        <p:txBody>
          <a:bodyPr wrap="square">
            <a:spAutoFit/>
          </a:bodyPr>
          <a:lstStyle/>
          <a:p>
            <a:pPr algn="just">
              <a:lnSpc>
                <a:spcPct val="150000"/>
              </a:lnSpc>
            </a:pPr>
            <a:endParaRPr lang="en-US" sz="2800" dirty="0"/>
          </a:p>
          <a:p>
            <a:pPr marL="285750" indent="-285750" algn="just">
              <a:lnSpc>
                <a:spcPct val="150000"/>
              </a:lnSpc>
              <a:buFont typeface="Arial" panose="020B0604020202020204" pitchFamily="34" charset="0"/>
              <a:buChar char="•"/>
            </a:pPr>
            <a:endParaRPr lang="en-IN" sz="2400" dirty="0"/>
          </a:p>
        </p:txBody>
      </p:sp>
      <p:sp>
        <p:nvSpPr>
          <p:cNvPr id="11" name="TextBox 10">
            <a:extLst>
              <a:ext uri="{FF2B5EF4-FFF2-40B4-BE49-F238E27FC236}">
                <a16:creationId xmlns:a16="http://schemas.microsoft.com/office/drawing/2014/main" id="{A0C4C9AE-9CC6-421B-9BC0-CC72B0F95444}"/>
              </a:ext>
            </a:extLst>
          </p:cNvPr>
          <p:cNvSpPr txBox="1"/>
          <p:nvPr/>
        </p:nvSpPr>
        <p:spPr>
          <a:xfrm>
            <a:off x="859791" y="1483468"/>
            <a:ext cx="10460735" cy="4154984"/>
          </a:xfrm>
          <a:prstGeom prst="rect">
            <a:avLst/>
          </a:prstGeom>
          <a:noFill/>
        </p:spPr>
        <p:txBody>
          <a:bodyPr wrap="square" rtlCol="0">
            <a:spAutoFit/>
          </a:bodyPr>
          <a:lstStyle/>
          <a:p>
            <a:pPr algn="just"/>
            <a:r>
              <a:rPr lang="en-IN" sz="2400" dirty="0">
                <a:latin typeface="Times New Roman" panose="02020603050405020304" pitchFamily="18" charset="0"/>
                <a:cs typeface="Times New Roman" panose="02020603050405020304" pitchFamily="18" charset="0"/>
              </a:rPr>
              <a:t>Farmers lose up to 40% of their crops yearly due to pests, often because they can’t identify the problem in time. Pest identification in rice farming remains a challenge, leading to delayed control and extensive damage. To address this, we developed a deep learning system using Vision Transformers (</a:t>
            </a:r>
            <a:r>
              <a:rPr lang="en-IN" sz="2400" dirty="0" err="1">
                <a:latin typeface="Times New Roman" panose="02020603050405020304" pitchFamily="18" charset="0"/>
                <a:cs typeface="Times New Roman" panose="02020603050405020304" pitchFamily="18" charset="0"/>
              </a:rPr>
              <a:t>ViT</a:t>
            </a:r>
            <a:r>
              <a:rPr lang="en-IN" sz="2400" dirty="0">
                <a:latin typeface="Times New Roman" panose="02020603050405020304" pitchFamily="18" charset="0"/>
                <a:cs typeface="Times New Roman" panose="02020603050405020304" pitchFamily="18" charset="0"/>
              </a:rPr>
              <a:t>) to identify 40 classes of rice pests by capturing detailed spatial and structural features. Unlike traditional classifiers, our system acts as a pest assistant, providing concise, farmer-friendly summaries with descriptions, recommended pesticides, and preventive measures. Designed for farmers, agricultural workers, students, and researchers, it combines deep learning with agricultural insight for accurate classification and practical advice. our simpler </a:t>
            </a:r>
            <a:r>
              <a:rPr lang="en-IN" sz="2400" dirty="0" err="1">
                <a:latin typeface="Times New Roman" panose="02020603050405020304" pitchFamily="18" charset="0"/>
                <a:cs typeface="Times New Roman" panose="02020603050405020304" pitchFamily="18" charset="0"/>
              </a:rPr>
              <a:t>ViT</a:t>
            </a:r>
            <a:r>
              <a:rPr lang="en-IN" sz="2400" dirty="0">
                <a:latin typeface="Times New Roman" panose="02020603050405020304" pitchFamily="18" charset="0"/>
                <a:cs typeface="Times New Roman" panose="02020603050405020304" pitchFamily="18" charset="0"/>
              </a:rPr>
              <a:t>-based model handles 40 classes and achieving 96% accuracy</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989580">
              <a:lnSpc>
                <a:spcPct val="100000"/>
              </a:lnSpc>
              <a:spcBef>
                <a:spcPts val="130"/>
              </a:spcBef>
            </a:pPr>
            <a:r>
              <a:rPr spc="-10" dirty="0"/>
              <a:t>INTRODUCTION</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4</a:t>
            </a:fld>
            <a:endParaRPr spc="-25" dirty="0"/>
          </a:p>
        </p:txBody>
      </p:sp>
      <p:sp>
        <p:nvSpPr>
          <p:cNvPr id="10" name="TextBox 9">
            <a:extLst>
              <a:ext uri="{FF2B5EF4-FFF2-40B4-BE49-F238E27FC236}">
                <a16:creationId xmlns:a16="http://schemas.microsoft.com/office/drawing/2014/main" id="{7BFE3E93-4A00-CD5F-B980-1402E8FA1C87}"/>
              </a:ext>
            </a:extLst>
          </p:cNvPr>
          <p:cNvSpPr txBox="1"/>
          <p:nvPr/>
        </p:nvSpPr>
        <p:spPr>
          <a:xfrm>
            <a:off x="871474" y="1483469"/>
            <a:ext cx="10449052" cy="5009833"/>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present work introduces the Intelligent</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 Pest Classification System that </a:t>
            </a:r>
            <a:r>
              <a:rPr lang="en-US" sz="2400" dirty="0">
                <a:latin typeface="Times New Roman" panose="02020603050405020304" pitchFamily="18" charset="0"/>
                <a:cs typeface="Times New Roman" panose="02020603050405020304" pitchFamily="18" charset="0"/>
              </a:rPr>
              <a:t>designed to assist</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 farmers in pest management.</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employs Vision Transformers (</a:t>
            </a:r>
            <a:r>
              <a:rPr lang="en-US" sz="2400" dirty="0" err="1">
                <a:latin typeface="Times New Roman" panose="02020603050405020304" pitchFamily="18" charset="0"/>
                <a:cs typeface="Times New Roman" panose="02020603050405020304" pitchFamily="18" charset="0"/>
              </a:rPr>
              <a:t>ViT</a:t>
            </a:r>
            <a:r>
              <a:rPr lang="en-US" sz="2400" dirty="0">
                <a:latin typeface="Times New Roman" panose="02020603050405020304" pitchFamily="18" charset="0"/>
                <a:cs typeface="Times New Roman" panose="02020603050405020304" pitchFamily="18" charset="0"/>
              </a:rPr>
              <a:t>) for accurate</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 identification of 40 rice pest species from crop images.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goes beyond classification by providing </a:t>
            </a:r>
          </a:p>
          <a:p>
            <a:pPr marL="0" indent="0">
              <a:lnSpc>
                <a:spcPct val="150000"/>
              </a:lnSpc>
              <a:buNone/>
            </a:pPr>
            <a:r>
              <a:rPr lang="en-US" sz="2400" dirty="0">
                <a:latin typeface="Times New Roman" panose="02020603050405020304" pitchFamily="18" charset="0"/>
                <a:cs typeface="Times New Roman" panose="02020603050405020304" pitchFamily="18" charset="0"/>
              </a:rPr>
              <a:t>pest descriptions, recommended pesticides, and</a:t>
            </a:r>
          </a:p>
          <a:p>
            <a:pPr marL="0" indent="0">
              <a:lnSpc>
                <a:spcPct val="150000"/>
              </a:lnSpc>
              <a:buNone/>
            </a:pPr>
            <a:r>
              <a:rPr lang="en-US" sz="2400" dirty="0">
                <a:latin typeface="Times New Roman" panose="02020603050405020304" pitchFamily="18" charset="0"/>
                <a:cs typeface="Times New Roman" panose="02020603050405020304" pitchFamily="18" charset="0"/>
              </a:rPr>
              <a:t>preventive measures through domain-aware summarization.</a:t>
            </a:r>
            <a:endParaRPr lang="en-I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endParaRPr lang="en-IN" sz="2400" dirty="0"/>
          </a:p>
        </p:txBody>
      </p:sp>
      <p:pic>
        <p:nvPicPr>
          <p:cNvPr id="9" name="Picture 8">
            <a:extLst>
              <a:ext uri="{FF2B5EF4-FFF2-40B4-BE49-F238E27FC236}">
                <a16:creationId xmlns:a16="http://schemas.microsoft.com/office/drawing/2014/main" id="{45990BF0-F7DE-D46F-5763-8E902DA77F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29599" y="1219200"/>
            <a:ext cx="3535551" cy="4495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C2229-1CE0-34CA-6350-D6528A925A7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E2626EC-779D-D03D-21ED-8F9466534A3B}"/>
              </a:ext>
            </a:extLst>
          </p:cNvPr>
          <p:cNvSpPr txBox="1">
            <a:spLocks noGrp="1"/>
          </p:cNvSpPr>
          <p:nvPr>
            <p:ph type="title"/>
          </p:nvPr>
        </p:nvSpPr>
        <p:spPr>
          <a:xfrm>
            <a:off x="-695959" y="592753"/>
            <a:ext cx="11908535" cy="942565"/>
          </a:xfrm>
          <a:prstGeom prst="rect">
            <a:avLst/>
          </a:prstGeom>
        </p:spPr>
        <p:txBody>
          <a:bodyPr vert="horz" wrap="square" lIns="0" tIns="262889" rIns="0" bIns="0" rtlCol="0">
            <a:spAutoFit/>
          </a:bodyPr>
          <a:lstStyle/>
          <a:p>
            <a:pPr marL="2989580">
              <a:lnSpc>
                <a:spcPct val="100000"/>
              </a:lnSpc>
              <a:spcBef>
                <a:spcPts val="130"/>
              </a:spcBef>
            </a:pPr>
            <a:r>
              <a:rPr lang="en-IN" dirty="0">
                <a:latin typeface="Times New Roman" panose="02020603050405020304" pitchFamily="18" charset="0"/>
                <a:cs typeface="Times New Roman" panose="02020603050405020304" pitchFamily="18" charset="0"/>
                <a:sym typeface="Calibri"/>
              </a:rPr>
              <a:t>Motivation &amp; Core Contribution</a:t>
            </a:r>
            <a:endParaRPr spc="-10" dirty="0"/>
          </a:p>
        </p:txBody>
      </p:sp>
      <p:sp>
        <p:nvSpPr>
          <p:cNvPr id="4" name="object 4">
            <a:extLst>
              <a:ext uri="{FF2B5EF4-FFF2-40B4-BE49-F238E27FC236}">
                <a16:creationId xmlns:a16="http://schemas.microsoft.com/office/drawing/2014/main" id="{2E14104B-51AF-92E4-C323-791D667832C3}"/>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a:extLst>
              <a:ext uri="{FF2B5EF4-FFF2-40B4-BE49-F238E27FC236}">
                <a16:creationId xmlns:a16="http://schemas.microsoft.com/office/drawing/2014/main" id="{D15EEEED-DE8B-9835-B990-C8156FEF2283}"/>
              </a:ext>
            </a:extLst>
          </p:cNvPr>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a:extLst>
              <a:ext uri="{FF2B5EF4-FFF2-40B4-BE49-F238E27FC236}">
                <a16:creationId xmlns:a16="http://schemas.microsoft.com/office/drawing/2014/main" id="{D6D7FAA1-A8A2-068E-92EB-5F599DB57EE2}"/>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a:extLst>
              <a:ext uri="{FF2B5EF4-FFF2-40B4-BE49-F238E27FC236}">
                <a16:creationId xmlns:a16="http://schemas.microsoft.com/office/drawing/2014/main" id="{07CDB3DF-F5B8-F97C-7FB3-AEECAD4DD3E9}"/>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E1B3D622-C4EC-20CA-C80C-BD40A03C26BF}"/>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5</a:t>
            </a:fld>
            <a:endParaRPr spc="-25" dirty="0"/>
          </a:p>
        </p:txBody>
      </p:sp>
      <p:sp>
        <p:nvSpPr>
          <p:cNvPr id="10" name="TextBox 9">
            <a:extLst>
              <a:ext uri="{FF2B5EF4-FFF2-40B4-BE49-F238E27FC236}">
                <a16:creationId xmlns:a16="http://schemas.microsoft.com/office/drawing/2014/main" id="{80C18D5B-4539-FF31-EE90-3EF8C388AE02}"/>
              </a:ext>
            </a:extLst>
          </p:cNvPr>
          <p:cNvSpPr txBox="1"/>
          <p:nvPr/>
        </p:nvSpPr>
        <p:spPr>
          <a:xfrm>
            <a:off x="609600" y="1371600"/>
            <a:ext cx="11066156" cy="4893647"/>
          </a:xfrm>
          <a:prstGeom prst="rect">
            <a:avLst/>
          </a:prstGeom>
          <a:noFill/>
        </p:spPr>
        <p:txBody>
          <a:bodyPr wrap="square">
            <a:spAutoFit/>
          </a:bodyPr>
          <a:lstStyle/>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Farmers face huge yield losses due to delayed or incorrect pest identification.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Limited access to experts and excessive pesticide use cause environmental damage.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Existing AI models only classify pests without offering control or prevention guidance.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Proposed an Intelligent Pest Classification System using Vision Transformers (</a:t>
            </a:r>
            <a:r>
              <a:rPr lang="en-US" sz="2400" dirty="0" err="1">
                <a:latin typeface="Times New Roman" panose="02020603050405020304" pitchFamily="18" charset="0"/>
                <a:cs typeface="Times New Roman" panose="02020603050405020304" pitchFamily="18" charset="0"/>
              </a:rPr>
              <a:t>ViT</a:t>
            </a:r>
            <a:r>
              <a:rPr lang="en-US" sz="2400" dirty="0">
                <a:latin typeface="Times New Roman" panose="02020603050405020304" pitchFamily="18" charset="0"/>
                <a:cs typeface="Times New Roman" panose="02020603050405020304" pitchFamily="18" charset="0"/>
              </a:rPr>
              <a:t>) for 40 rice pest species.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Introduced a domain-aware recommendation layer giving pest description, pesticide, and preventive tips.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Integrated deep learning + agricultural knowledge for accurate, practical, and farmer-friendly outputs.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Achieved 96% classification accuracy, outperforming existing CNN and YOLO-based models.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7046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99865" y="283463"/>
            <a:ext cx="5544820" cy="632460"/>
          </a:xfrm>
          <a:prstGeom prst="rect">
            <a:avLst/>
          </a:prstGeom>
        </p:spPr>
        <p:txBody>
          <a:bodyPr vert="horz" wrap="square" lIns="0" tIns="16510" rIns="0" bIns="0" rtlCol="0">
            <a:spAutoFit/>
          </a:bodyPr>
          <a:lstStyle/>
          <a:p>
            <a:pPr marL="12700">
              <a:lnSpc>
                <a:spcPct val="100000"/>
              </a:lnSpc>
              <a:spcBef>
                <a:spcPts val="130"/>
              </a:spcBef>
            </a:pPr>
            <a:r>
              <a:rPr sz="3950" dirty="0"/>
              <a:t>LITERATURE</a:t>
            </a:r>
            <a:r>
              <a:rPr sz="3950" spc="-185" dirty="0"/>
              <a:t> </a:t>
            </a:r>
            <a:r>
              <a:rPr sz="3950" spc="-10" dirty="0"/>
              <a:t>SURVEY</a:t>
            </a:r>
            <a:endParaRPr sz="3950" dirty="0"/>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6</a:t>
            </a:fld>
            <a:endParaRPr spc="-25" dirty="0"/>
          </a:p>
        </p:txBody>
      </p:sp>
      <p:graphicFrame>
        <p:nvGraphicFramePr>
          <p:cNvPr id="3" name="object 3"/>
          <p:cNvGraphicFramePr>
            <a:graphicFrameLocks noGrp="1"/>
          </p:cNvGraphicFramePr>
          <p:nvPr>
            <p:extLst>
              <p:ext uri="{D42A27DB-BD31-4B8C-83A1-F6EECF244321}">
                <p14:modId xmlns:p14="http://schemas.microsoft.com/office/powerpoint/2010/main" val="4248981796"/>
              </p:ext>
            </p:extLst>
          </p:nvPr>
        </p:nvGraphicFramePr>
        <p:xfrm>
          <a:off x="679450" y="1128395"/>
          <a:ext cx="10902951" cy="5120005"/>
        </p:xfrm>
        <a:graphic>
          <a:graphicData uri="http://schemas.openxmlformats.org/drawingml/2006/table">
            <a:tbl>
              <a:tblPr firstRow="1" bandRow="1">
                <a:tableStyleId>{2D5ABB26-0587-4C30-8999-92F81FD0307C}</a:tableStyleId>
              </a:tblPr>
              <a:tblGrid>
                <a:gridCol w="620504">
                  <a:extLst>
                    <a:ext uri="{9D8B030D-6E8A-4147-A177-3AD203B41FA5}">
                      <a16:colId xmlns:a16="http://schemas.microsoft.com/office/drawing/2014/main" val="20000"/>
                    </a:ext>
                  </a:extLst>
                </a:gridCol>
                <a:gridCol w="1950428">
                  <a:extLst>
                    <a:ext uri="{9D8B030D-6E8A-4147-A177-3AD203B41FA5}">
                      <a16:colId xmlns:a16="http://schemas.microsoft.com/office/drawing/2014/main" val="20001"/>
                    </a:ext>
                  </a:extLst>
                </a:gridCol>
                <a:gridCol w="1631859">
                  <a:extLst>
                    <a:ext uri="{9D8B030D-6E8A-4147-A177-3AD203B41FA5}">
                      <a16:colId xmlns:a16="http://schemas.microsoft.com/office/drawing/2014/main" val="20002"/>
                    </a:ext>
                  </a:extLst>
                </a:gridCol>
                <a:gridCol w="1683676">
                  <a:extLst>
                    <a:ext uri="{9D8B030D-6E8A-4147-A177-3AD203B41FA5}">
                      <a16:colId xmlns:a16="http://schemas.microsoft.com/office/drawing/2014/main" val="20003"/>
                    </a:ext>
                  </a:extLst>
                </a:gridCol>
                <a:gridCol w="1901172">
                  <a:extLst>
                    <a:ext uri="{9D8B030D-6E8A-4147-A177-3AD203B41FA5}">
                      <a16:colId xmlns:a16="http://schemas.microsoft.com/office/drawing/2014/main" val="20004"/>
                    </a:ext>
                  </a:extLst>
                </a:gridCol>
                <a:gridCol w="1557656">
                  <a:extLst>
                    <a:ext uri="{9D8B030D-6E8A-4147-A177-3AD203B41FA5}">
                      <a16:colId xmlns:a16="http://schemas.microsoft.com/office/drawing/2014/main" val="20005"/>
                    </a:ext>
                  </a:extLst>
                </a:gridCol>
                <a:gridCol w="1557656">
                  <a:extLst>
                    <a:ext uri="{9D8B030D-6E8A-4147-A177-3AD203B41FA5}">
                      <a16:colId xmlns:a16="http://schemas.microsoft.com/office/drawing/2014/main" val="20006"/>
                    </a:ext>
                  </a:extLst>
                </a:gridCol>
              </a:tblGrid>
              <a:tr h="819282">
                <a:tc>
                  <a:txBody>
                    <a:bodyPr/>
                    <a:lstStyle/>
                    <a:p>
                      <a:pPr marL="182880" algn="ctr">
                        <a:lnSpc>
                          <a:spcPct val="100000"/>
                        </a:lnSpc>
                        <a:spcBef>
                          <a:spcPts val="325"/>
                        </a:spcBef>
                      </a:pPr>
                      <a:r>
                        <a:rPr lang="en-IN" sz="1400" b="1" spc="-25" dirty="0">
                          <a:latin typeface="Calibri"/>
                          <a:cs typeface="Calibri"/>
                        </a:rPr>
                        <a:t>No</a:t>
                      </a:r>
                      <a:endParaRPr lang="en-IN" sz="1400" dirty="0">
                        <a:latin typeface="Calibri"/>
                        <a:cs typeface="Calibri"/>
                      </a:endParaRPr>
                    </a:p>
                  </a:txBody>
                  <a:tcPr marL="0" marR="0" marT="41275"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35" algn="ctr">
                        <a:lnSpc>
                          <a:spcPct val="100000"/>
                        </a:lnSpc>
                        <a:spcBef>
                          <a:spcPts val="325"/>
                        </a:spcBef>
                      </a:pPr>
                      <a:r>
                        <a:rPr lang="en-US" sz="1400" b="1" spc="-10">
                          <a:latin typeface="Calibri"/>
                          <a:cs typeface="Calibri"/>
                        </a:rPr>
                        <a:t>Title</a:t>
                      </a:r>
                      <a:endParaRPr lang="en-US" sz="1400" dirty="0">
                        <a:latin typeface="Calibri"/>
                        <a:cs typeface="Calibri"/>
                      </a:endParaRPr>
                    </a:p>
                  </a:txBody>
                  <a:tcPr marL="0" marR="0" marT="41275" marB="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tc>
                  <a:txBody>
                    <a:bodyPr/>
                    <a:lstStyle/>
                    <a:p>
                      <a:pPr marL="514984" algn="ctr">
                        <a:lnSpc>
                          <a:spcPct val="100000"/>
                        </a:lnSpc>
                        <a:spcBef>
                          <a:spcPts val="325"/>
                        </a:spcBef>
                      </a:pPr>
                      <a:r>
                        <a:rPr lang="en-US" sz="1400" b="1" spc="-10">
                          <a:latin typeface="Calibri"/>
                          <a:cs typeface="Calibri"/>
                        </a:rPr>
                        <a:t>Author</a:t>
                      </a:r>
                      <a:endParaRPr lang="en-US" sz="1400" dirty="0">
                        <a:latin typeface="Calibri"/>
                        <a:cs typeface="Calibri"/>
                      </a:endParaRPr>
                    </a:p>
                  </a:txBody>
                  <a:tcPr marL="0" marR="0" marT="41275" marB="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tc>
                  <a:txBody>
                    <a:bodyPr/>
                    <a:lstStyle/>
                    <a:p>
                      <a:pPr marL="657225" marR="147955" indent="-494665" algn="ctr">
                        <a:lnSpc>
                          <a:spcPct val="104900"/>
                        </a:lnSpc>
                        <a:spcBef>
                          <a:spcPts val="229"/>
                        </a:spcBef>
                      </a:pPr>
                      <a:r>
                        <a:rPr lang="en-US" sz="1400" b="1">
                          <a:latin typeface="Calibri"/>
                          <a:cs typeface="Calibri"/>
                        </a:rPr>
                        <a:t>Journal</a:t>
                      </a:r>
                      <a:r>
                        <a:rPr lang="en-US" sz="1400" b="1" spc="130">
                          <a:latin typeface="Calibri"/>
                          <a:cs typeface="Calibri"/>
                        </a:rPr>
                        <a:t> </a:t>
                      </a:r>
                      <a:r>
                        <a:rPr lang="en-US" sz="1400" b="1">
                          <a:latin typeface="Calibri"/>
                          <a:cs typeface="Calibri"/>
                        </a:rPr>
                        <a:t>Name</a:t>
                      </a:r>
                      <a:r>
                        <a:rPr lang="en-US" sz="1400" b="1" spc="90">
                          <a:latin typeface="Calibri"/>
                          <a:cs typeface="Calibri"/>
                        </a:rPr>
                        <a:t> </a:t>
                      </a:r>
                      <a:r>
                        <a:rPr lang="en-US" sz="1400" b="1" spc="-50">
                          <a:latin typeface="Calibri"/>
                          <a:cs typeface="Calibri"/>
                        </a:rPr>
                        <a:t>&amp; </a:t>
                      </a:r>
                      <a:r>
                        <a:rPr lang="en-US" sz="1400" b="1" spc="-20">
                          <a:latin typeface="Calibri"/>
                          <a:cs typeface="Calibri"/>
                        </a:rPr>
                        <a:t>Year</a:t>
                      </a:r>
                      <a:endParaRPr lang="en-US" sz="1400" dirty="0">
                        <a:latin typeface="Calibri"/>
                        <a:cs typeface="Calibri"/>
                      </a:endParaRPr>
                    </a:p>
                  </a:txBody>
                  <a:tcPr marL="0" marR="0" marT="29209" marB="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tc>
                  <a:txBody>
                    <a:bodyPr/>
                    <a:lstStyle/>
                    <a:p>
                      <a:pPr marL="588010" marR="367030" indent="-208915" algn="ctr">
                        <a:lnSpc>
                          <a:spcPct val="104900"/>
                        </a:lnSpc>
                        <a:spcBef>
                          <a:spcPts val="229"/>
                        </a:spcBef>
                      </a:pPr>
                      <a:r>
                        <a:rPr lang="en-US" sz="1400" b="1" spc="-10">
                          <a:latin typeface="Calibri"/>
                          <a:cs typeface="Calibri"/>
                        </a:rPr>
                        <a:t>Methodology Adapted</a:t>
                      </a:r>
                      <a:endParaRPr lang="en-US" sz="1400" dirty="0">
                        <a:latin typeface="Calibri"/>
                        <a:cs typeface="Calibri"/>
                      </a:endParaRPr>
                    </a:p>
                  </a:txBody>
                  <a:tcPr marL="0" marR="0" marT="29209" marB="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tc>
                  <a:txBody>
                    <a:bodyPr/>
                    <a:lstStyle/>
                    <a:p>
                      <a:pPr marL="254635" algn="ctr">
                        <a:lnSpc>
                          <a:spcPct val="100000"/>
                        </a:lnSpc>
                        <a:spcBef>
                          <a:spcPts val="325"/>
                        </a:spcBef>
                      </a:pPr>
                      <a:r>
                        <a:rPr lang="en-US" sz="1400" b="1">
                          <a:latin typeface="Calibri"/>
                          <a:cs typeface="Calibri"/>
                        </a:rPr>
                        <a:t>Key</a:t>
                      </a:r>
                      <a:r>
                        <a:rPr lang="en-US" sz="1400" b="1" spc="45">
                          <a:latin typeface="Calibri"/>
                          <a:cs typeface="Calibri"/>
                        </a:rPr>
                        <a:t> </a:t>
                      </a:r>
                      <a:r>
                        <a:rPr lang="en-US" sz="1400" b="1" spc="-10">
                          <a:latin typeface="Calibri"/>
                          <a:cs typeface="Calibri"/>
                        </a:rPr>
                        <a:t>Findings</a:t>
                      </a:r>
                      <a:endParaRPr lang="en-US" sz="1400" dirty="0">
                        <a:latin typeface="Calibri"/>
                        <a:cs typeface="Calibri"/>
                      </a:endParaRPr>
                    </a:p>
                  </a:txBody>
                  <a:tcPr marL="0" marR="0" marT="41275" marB="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tc>
                  <a:txBody>
                    <a:bodyPr/>
                    <a:lstStyle/>
                    <a:p>
                      <a:pPr marL="19050" algn="ctr">
                        <a:lnSpc>
                          <a:spcPct val="100000"/>
                        </a:lnSpc>
                        <a:spcBef>
                          <a:spcPts val="325"/>
                        </a:spcBef>
                      </a:pPr>
                      <a:r>
                        <a:rPr lang="en-US" sz="1400" b="1" spc="-20">
                          <a:latin typeface="Calibri"/>
                          <a:cs typeface="Calibri"/>
                        </a:rPr>
                        <a:t>Gaps</a:t>
                      </a:r>
                      <a:endParaRPr lang="en-US" sz="1400">
                        <a:latin typeface="Calibri"/>
                        <a:cs typeface="Calibri"/>
                      </a:endParaRPr>
                    </a:p>
                  </a:txBody>
                  <a:tcPr marL="0" marR="0" marT="41275" marB="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195091">
                <a:tc>
                  <a:txBody>
                    <a:bodyPr/>
                    <a:lstStyle/>
                    <a:p>
                      <a:pPr marL="92075" algn="ctr">
                        <a:lnSpc>
                          <a:spcPct val="100000"/>
                        </a:lnSpc>
                        <a:spcBef>
                          <a:spcPts val="254"/>
                        </a:spcBef>
                      </a:pPr>
                      <a:r>
                        <a:rPr lang="en-US" sz="1400" dirty="0">
                          <a:latin typeface="Calibri"/>
                          <a:cs typeface="Calibri"/>
                        </a:rPr>
                        <a:t>1</a:t>
                      </a:r>
                    </a:p>
                  </a:txBody>
                  <a:tcPr marL="0" marR="0" marT="32384" marB="0" anchor="ctr">
                    <a:lnL w="12700">
                      <a:solidFill>
                        <a:srgbClr val="000000"/>
                      </a:solidFill>
                      <a:prstDash val="soli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algn="ctr" fontAlgn="b">
                        <a:buNone/>
                      </a:pPr>
                      <a:r>
                        <a:rPr lang="en-US" sz="1400" b="0" i="0" u="none" strike="noStrike" dirty="0">
                          <a:solidFill>
                            <a:srgbClr val="000000"/>
                          </a:solidFill>
                          <a:effectLst/>
                          <a:latin typeface="Calibri" panose="020F0502020204030204" pitchFamily="34" charset="0"/>
                        </a:rPr>
                        <a:t>Rice Pest Recognition Method Based on Improved YOLOv8</a:t>
                      </a:r>
                    </a:p>
                  </a:txBody>
                  <a:tcPr marL="7620" marR="7620" marT="7620" marB="0" anchor="ctr">
                    <a:lnL w="12700">
                      <a:solidFill>
                        <a:srgbClr val="000000"/>
                      </a:solidFill>
                      <a:prstDash val="solid"/>
                    </a:lnL>
                    <a:lnR w="12700" cap="flat" cmpd="sng" algn="ctr">
                      <a:solidFill>
                        <a:srgbClr val="000000"/>
                      </a:solidFill>
                      <a:prstDash val="solid"/>
                      <a:round/>
                      <a:headEnd type="none" w="med" len="med"/>
                      <a:tailEnd type="none" w="med" len="me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chemeClr val="tx1"/>
                          </a:solidFill>
                          <a:effectLst/>
                          <a:latin typeface="+mn-lt"/>
                          <a:ea typeface="+mn-ea"/>
                          <a:cs typeface="+mn-cs"/>
                        </a:rPr>
                        <a:t>Yang </a:t>
                      </a:r>
                      <a:r>
                        <a:rPr lang="en-US" sz="1400" b="0" i="0" u="none" strike="noStrike" dirty="0" err="1">
                          <a:solidFill>
                            <a:schemeClr val="tx1"/>
                          </a:solidFill>
                          <a:effectLst/>
                          <a:latin typeface="+mn-lt"/>
                          <a:ea typeface="+mn-ea"/>
                          <a:cs typeface="+mn-cs"/>
                        </a:rPr>
                        <a:t>Yang</a:t>
                      </a:r>
                      <a:r>
                        <a:rPr lang="en-US" sz="1400" b="0" i="0" u="none" dirty="0">
                          <a:solidFill>
                            <a:schemeClr val="tx1"/>
                          </a:solidFill>
                          <a:effectLst/>
                          <a:latin typeface="+mn-lt"/>
                          <a:ea typeface="+mn-ea"/>
                          <a:cs typeface="+mn-cs"/>
                        </a:rPr>
                        <a:t>; </a:t>
                      </a:r>
                      <a:r>
                        <a:rPr lang="en-US" sz="1400" b="0" i="0" u="none" strike="noStrike" dirty="0" err="1">
                          <a:solidFill>
                            <a:schemeClr val="tx1"/>
                          </a:solidFill>
                          <a:effectLst/>
                          <a:latin typeface="+mn-lt"/>
                          <a:ea typeface="+mn-ea"/>
                          <a:cs typeface="+mn-cs"/>
                        </a:rPr>
                        <a:t>Juxing</a:t>
                      </a:r>
                      <a:r>
                        <a:rPr lang="en-US" sz="1400" b="0" i="0" u="none" strike="noStrike" dirty="0">
                          <a:solidFill>
                            <a:schemeClr val="tx1"/>
                          </a:solidFill>
                          <a:effectLst/>
                          <a:latin typeface="+mn-lt"/>
                          <a:ea typeface="+mn-ea"/>
                          <a:cs typeface="+mn-cs"/>
                        </a:rPr>
                        <a:t> Di</a:t>
                      </a:r>
                      <a:r>
                        <a:rPr lang="en-US" sz="1400" b="0" i="0" u="none" dirty="0">
                          <a:solidFill>
                            <a:schemeClr val="tx1"/>
                          </a:solidFill>
                          <a:effectLst/>
                          <a:latin typeface="+mn-lt"/>
                          <a:ea typeface="+mn-ea"/>
                          <a:cs typeface="+mn-cs"/>
                        </a:rPr>
                        <a:t>; </a:t>
                      </a:r>
                      <a:r>
                        <a:rPr lang="en-US" sz="1400" b="0" i="0" u="none" strike="noStrike" dirty="0" err="1">
                          <a:solidFill>
                            <a:schemeClr val="tx1"/>
                          </a:solidFill>
                          <a:effectLst/>
                          <a:latin typeface="+mn-lt"/>
                          <a:ea typeface="+mn-ea"/>
                          <a:cs typeface="+mn-cs"/>
                        </a:rPr>
                        <a:t>Guisuo</a:t>
                      </a:r>
                      <a:r>
                        <a:rPr lang="en-US" sz="1400" b="0" i="0" u="none" strike="noStrike" dirty="0">
                          <a:solidFill>
                            <a:schemeClr val="tx1"/>
                          </a:solidFill>
                          <a:effectLst/>
                          <a:latin typeface="+mn-lt"/>
                          <a:ea typeface="+mn-ea"/>
                          <a:cs typeface="+mn-cs"/>
                        </a:rPr>
                        <a:t> Liu</a:t>
                      </a:r>
                      <a:r>
                        <a:rPr lang="en-US" sz="1400" b="0" i="0" u="none" dirty="0">
                          <a:solidFill>
                            <a:schemeClr val="tx1"/>
                          </a:solidFill>
                          <a:effectLst/>
                          <a:latin typeface="+mn-lt"/>
                          <a:ea typeface="+mn-ea"/>
                          <a:cs typeface="+mn-cs"/>
                        </a:rPr>
                        <a:t>; </a:t>
                      </a:r>
                      <a:r>
                        <a:rPr lang="en-US" sz="1400" b="0" i="0" u="none" strike="noStrike" dirty="0">
                          <a:solidFill>
                            <a:schemeClr val="tx1"/>
                          </a:solidFill>
                          <a:effectLst/>
                          <a:latin typeface="+mn-lt"/>
                          <a:ea typeface="+mn-ea"/>
                          <a:cs typeface="+mn-cs"/>
                        </a:rPr>
                        <a:t>Jiali Wang</a:t>
                      </a:r>
                      <a:endParaRPr lang="da-DK" sz="1400" b="0" i="0" u="none" strike="noStrike" dirty="0">
                        <a:solidFill>
                          <a:schemeClr val="tx1"/>
                        </a:solidFill>
                        <a:effectLst/>
                        <a:latin typeface="Calibri" panose="020F050202020403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sng" strike="noStrike" dirty="0">
                          <a:solidFill>
                            <a:srgbClr val="0563C1"/>
                          </a:solidFill>
                          <a:effectLst/>
                          <a:latin typeface="Calibri" panose="020F0502020204030204" pitchFamily="34" charset="0"/>
                          <a:hlinkClick r:id="rId3"/>
                        </a:rPr>
                        <a:t>https://xplorestaging.ieee.org/document/10504248</a:t>
                      </a:r>
                      <a:endParaRPr lang="en-US" sz="1400" b="0" i="0" u="sng" strike="noStrike" dirty="0">
                        <a:solidFill>
                          <a:srgbClr val="0563C1"/>
                        </a:solidFill>
                        <a:effectLst/>
                        <a:latin typeface="Calibri" panose="020F050202020403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rgbClr val="000000"/>
                          </a:solidFill>
                          <a:effectLst/>
                          <a:latin typeface="Calibri" panose="020F0502020204030204" pitchFamily="34" charset="0"/>
                        </a:rPr>
                        <a:t>YOLOv8 + GAM Attention</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0000"/>
                          </a:solidFill>
                          <a:effectLst/>
                          <a:latin typeface="Calibri" panose="020F0502020204030204" pitchFamily="34" charset="0"/>
                        </a:rPr>
                        <a:t>Enhanced detection of small pests; ~91.3% accuracy</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0000"/>
                          </a:solidFill>
                          <a:effectLst/>
                          <a:latin typeface="Calibri" panose="020F0502020204030204" pitchFamily="34" charset="0"/>
                        </a:rPr>
                        <a:t>Needs validation on more diverse datasets</a:t>
                      </a:r>
                    </a:p>
                  </a:txBody>
                  <a:tcPr marL="7620" marR="7620" marT="7620" marB="0" anchor="ctr">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08377">
                <a:tc>
                  <a:txBody>
                    <a:bodyPr/>
                    <a:lstStyle/>
                    <a:p>
                      <a:pPr marL="92075" algn="ctr">
                        <a:lnSpc>
                          <a:spcPct val="100000"/>
                        </a:lnSpc>
                        <a:spcBef>
                          <a:spcPts val="265"/>
                        </a:spcBef>
                      </a:pPr>
                      <a:r>
                        <a:rPr lang="en-US" sz="1400" dirty="0">
                          <a:latin typeface="Calibri"/>
                          <a:cs typeface="Calibri"/>
                        </a:rPr>
                        <a:t>2</a:t>
                      </a:r>
                    </a:p>
                  </a:txBody>
                  <a:tcPr marL="0" marR="0" marT="33655" marB="0" anchor="ctr">
                    <a:lnL w="12700">
                      <a:solidFill>
                        <a:srgbClr val="000000"/>
                      </a:solidFill>
                      <a:prstDash val="soli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algn="ctr" fontAlgn="b">
                        <a:buNone/>
                      </a:pPr>
                      <a:r>
                        <a:rPr lang="en-US" sz="1400" b="0" i="0" u="none" strike="noStrike" dirty="0">
                          <a:solidFill>
                            <a:srgbClr val="000000"/>
                          </a:solidFill>
                          <a:effectLst/>
                          <a:latin typeface="Calibri" panose="020F0502020204030204" pitchFamily="34" charset="0"/>
                        </a:rPr>
                        <a:t>Research on Natural Scene Rice Pest Detection Method Based on YOLOv5</a:t>
                      </a:r>
                    </a:p>
                  </a:txBody>
                  <a:tcPr marL="7620" marR="7620" marT="7620" marB="0" anchor="ctr">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rgbClr val="000000"/>
                          </a:solidFill>
                          <a:effectLst/>
                          <a:latin typeface="Calibri" panose="020F0502020204030204" pitchFamily="34" charset="0"/>
                        </a:rPr>
                        <a:t>Yujie Zhuang, Hui Deng, </a:t>
                      </a:r>
                      <a:r>
                        <a:rPr lang="en-US" sz="1400" b="0" i="0" u="none" strike="noStrike" dirty="0" err="1">
                          <a:solidFill>
                            <a:srgbClr val="000000"/>
                          </a:solidFill>
                          <a:effectLst/>
                          <a:latin typeface="Calibri" panose="020F0502020204030204" pitchFamily="34" charset="0"/>
                        </a:rPr>
                        <a:t>Mengmeng</a:t>
                      </a:r>
                      <a:r>
                        <a:rPr lang="en-US" sz="1400" b="0" i="0" u="none" strike="noStrike" dirty="0">
                          <a:solidFill>
                            <a:srgbClr val="000000"/>
                          </a:solidFill>
                          <a:effectLst/>
                          <a:latin typeface="Calibri" panose="020F0502020204030204" pitchFamily="34" charset="0"/>
                        </a:rPr>
                        <a:t> </a:t>
                      </a:r>
                      <a:r>
                        <a:rPr lang="en-US" sz="1400" b="0" i="0" u="none" strike="noStrike" dirty="0" err="1">
                          <a:solidFill>
                            <a:srgbClr val="000000"/>
                          </a:solidFill>
                          <a:effectLst/>
                          <a:latin typeface="Calibri" panose="020F0502020204030204" pitchFamily="34" charset="0"/>
                        </a:rPr>
                        <a:t>Lv</a:t>
                      </a:r>
                      <a:r>
                        <a:rPr lang="en-US" sz="1400" b="0" i="0" u="none" strike="noStrike" dirty="0">
                          <a:solidFill>
                            <a:srgbClr val="000000"/>
                          </a:solidFill>
                          <a:effectLst/>
                          <a:latin typeface="Calibri" panose="020F0502020204030204" pitchFamily="34" charset="0"/>
                        </a:rPr>
                        <a:t> IEEE, 2024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sng" strike="noStrike" dirty="0">
                          <a:solidFill>
                            <a:srgbClr val="0563C1"/>
                          </a:solidFill>
                          <a:effectLst/>
                          <a:latin typeface="Calibri" panose="020F0502020204030204" pitchFamily="34" charset="0"/>
                        </a:rPr>
                        <a:t>https://ieeexplore.ieee.org/document/10270124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rgbClr val="000000"/>
                          </a:solidFill>
                          <a:effectLst/>
                          <a:latin typeface="Calibri" panose="020F0502020204030204" pitchFamily="34" charset="0"/>
                        </a:rPr>
                        <a:t>YOLOv5 with scene optimization</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rgbClr val="000000"/>
                          </a:solidFill>
                          <a:effectLst/>
                          <a:latin typeface="Calibri" panose="020F0502020204030204" pitchFamily="34" charset="0"/>
                        </a:rPr>
                        <a:t>YOLOv5 adaptation performs well in unstructured natural environments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rgbClr val="000000"/>
                          </a:solidFill>
                          <a:effectLst/>
                          <a:latin typeface="Calibri" panose="020F0502020204030204" pitchFamily="34" charset="0"/>
                        </a:rPr>
                        <a:t>Drops in accuracy under poor lighting conditions</a:t>
                      </a:r>
                    </a:p>
                  </a:txBody>
                  <a:tcPr marL="7620" marR="7620" marT="7620" marB="0" anchor="ctr">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63793">
                <a:tc>
                  <a:txBody>
                    <a:bodyPr/>
                    <a:lstStyle/>
                    <a:p>
                      <a:pPr marL="92075" algn="ctr">
                        <a:lnSpc>
                          <a:spcPct val="100000"/>
                        </a:lnSpc>
                        <a:spcBef>
                          <a:spcPts val="275"/>
                        </a:spcBef>
                      </a:pPr>
                      <a:r>
                        <a:rPr lang="en-US" sz="1400" dirty="0">
                          <a:latin typeface="Calibri"/>
                          <a:cs typeface="Calibri"/>
                        </a:rPr>
                        <a:t>3</a:t>
                      </a:r>
                    </a:p>
                  </a:txBody>
                  <a:tcPr marL="0" marR="0" marT="34925" marB="0" anchor="ctr">
                    <a:lnL w="12700">
                      <a:solidFill>
                        <a:srgbClr val="000000"/>
                      </a:solidFill>
                      <a:prstDash val="solid"/>
                    </a:lnL>
                    <a:lnR w="12700" cap="flat" cmpd="sng" algn="ctr">
                      <a:solidFill>
                        <a:srgbClr val="000000"/>
                      </a:solidFill>
                      <a:prstDash val="solid"/>
                      <a:round/>
                      <a:headEnd type="none" w="med" len="med"/>
                      <a:tailEnd type="none" w="med" len="me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0000"/>
                          </a:solidFill>
                          <a:effectLst/>
                          <a:latin typeface="Calibri" panose="020F0502020204030204" pitchFamily="34" charset="0"/>
                        </a:rPr>
                        <a:t>TP-YOLO: A Lightweight Attention-Based Architecture for Tiny Pest Detection</a:t>
                      </a:r>
                    </a:p>
                  </a:txBody>
                  <a:tcPr marL="7620" marR="7620" marT="7620" marB="0" anchor="ctr">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rgbClr val="000000"/>
                          </a:solidFill>
                          <a:effectLst/>
                          <a:latin typeface="Calibri" panose="020F0502020204030204" pitchFamily="34" charset="0"/>
                        </a:rPr>
                        <a:t>A. Ali, B. Sardar, P. K. Singh, D. Kumar, 2023, IEEE ICIP</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sng" strike="noStrike" dirty="0">
                          <a:solidFill>
                            <a:srgbClr val="0563C1"/>
                          </a:solidFill>
                          <a:effectLst/>
                          <a:latin typeface="Calibri" panose="020F0502020204030204" pitchFamily="34" charset="0"/>
                        </a:rPr>
                        <a:t>https://ieeexplore.ieee.org/document/10255819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rgbClr val="000000"/>
                          </a:solidFill>
                          <a:effectLst/>
                          <a:latin typeface="Calibri" panose="020F0502020204030204" pitchFamily="34" charset="0"/>
                        </a:rPr>
                        <a:t>TP-YOLO with attention-enhanced heads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rgbClr val="000000"/>
                          </a:solidFill>
                          <a:effectLst/>
                          <a:latin typeface="Calibri" panose="020F0502020204030204" pitchFamily="34" charset="0"/>
                        </a:rPr>
                        <a:t>Efficient detection of very small pests; suitable for mobile/edge devices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rgbClr val="000000"/>
                          </a:solidFill>
                          <a:effectLst/>
                          <a:latin typeface="Calibri" panose="020F0502020204030204" pitchFamily="34" charset="0"/>
                        </a:rPr>
                        <a:t>Model generalization across crops not studied</a:t>
                      </a:r>
                    </a:p>
                  </a:txBody>
                  <a:tcPr marL="7620" marR="7620" marT="7620" marB="0" anchor="ctr">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133462">
                <a:tc>
                  <a:txBody>
                    <a:bodyPr/>
                    <a:lstStyle/>
                    <a:p>
                      <a:pPr marL="92075" algn="ctr">
                        <a:lnSpc>
                          <a:spcPct val="100000"/>
                        </a:lnSpc>
                        <a:spcBef>
                          <a:spcPts val="275"/>
                        </a:spcBef>
                      </a:pPr>
                      <a:r>
                        <a:rPr lang="en-US" sz="1400" dirty="0">
                          <a:latin typeface="Calibri"/>
                          <a:cs typeface="Calibri"/>
                        </a:rPr>
                        <a:t>4</a:t>
                      </a:r>
                    </a:p>
                  </a:txBody>
                  <a:tcPr marL="0" marR="0" marT="34925" marB="0" anchor="ctr">
                    <a:lnL w="12700">
                      <a:solidFill>
                        <a:srgbClr val="000000"/>
                      </a:solidFill>
                      <a:prstDash val="soli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algn="ctr" fontAlgn="ctr">
                        <a:buNone/>
                      </a:pPr>
                      <a:r>
                        <a:rPr lang="en-US" sz="1400" b="0" i="0" u="none" strike="noStrike" dirty="0">
                          <a:solidFill>
                            <a:srgbClr val="000000"/>
                          </a:solidFill>
                          <a:effectLst/>
                          <a:latin typeface="Calibri" panose="020F0502020204030204" pitchFamily="34" charset="0"/>
                        </a:rPr>
                        <a:t>A Lightweight Rice Pest Detection Algorithm Using Improved Attention Mechanism and YOLOv8 (2024)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ctr">
                        <a:buNone/>
                      </a:pPr>
                      <a:r>
                        <a:rPr lang="fr-FR" sz="1400" b="0" i="0" u="none" strike="noStrike" dirty="0">
                          <a:solidFill>
                            <a:srgbClr val="000000"/>
                          </a:solidFill>
                          <a:effectLst/>
                          <a:latin typeface="Calibri" panose="020F0502020204030204" pitchFamily="34" charset="0"/>
                        </a:rPr>
                        <a:t>Yin et al., 2024, Agriculture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ctr">
                        <a:buNone/>
                      </a:pPr>
                      <a:r>
                        <a:rPr lang="en-US" sz="1400" b="0" i="0" u="sng" strike="noStrike" dirty="0">
                          <a:solidFill>
                            <a:srgbClr val="0563C1"/>
                          </a:solidFill>
                          <a:effectLst/>
                          <a:latin typeface="Calibri" panose="020F0502020204030204" pitchFamily="34" charset="0"/>
                          <a:hlinkClick r:id="rId4"/>
                        </a:rPr>
                        <a:t>https://www.mdpi.com/2077-0472/14/7/1052</a:t>
                      </a:r>
                      <a:endParaRPr lang="en-US" sz="1400" b="0" i="0" u="sng" strike="noStrike" dirty="0">
                        <a:solidFill>
                          <a:srgbClr val="0563C1"/>
                        </a:solidFill>
                        <a:effectLst/>
                        <a:latin typeface="Calibri" panose="020F050202020403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ctr">
                        <a:buNone/>
                      </a:pPr>
                      <a:r>
                        <a:rPr lang="en-US" sz="1400" b="0" i="0" u="none" strike="noStrike" dirty="0">
                          <a:solidFill>
                            <a:srgbClr val="000000"/>
                          </a:solidFill>
                          <a:effectLst/>
                          <a:latin typeface="Calibri" panose="020F0502020204030204" pitchFamily="34" charset="0"/>
                        </a:rPr>
                        <a:t>YOLOv8 + M‑CBAM + </a:t>
                      </a:r>
                      <a:r>
                        <a:rPr lang="en-US" sz="1400" b="0" i="0" u="none" strike="noStrike" dirty="0" err="1">
                          <a:solidFill>
                            <a:srgbClr val="000000"/>
                          </a:solidFill>
                          <a:effectLst/>
                          <a:latin typeface="Calibri" panose="020F0502020204030204" pitchFamily="34" charset="0"/>
                        </a:rPr>
                        <a:t>MPDIoU</a:t>
                      </a:r>
                      <a:r>
                        <a:rPr lang="en-US" sz="1400" b="0" i="0" u="none" strike="noStrike" dirty="0">
                          <a:solidFill>
                            <a:srgbClr val="000000"/>
                          </a:solidFill>
                          <a:effectLst/>
                          <a:latin typeface="Calibri" panose="020F0502020204030204" pitchFamily="34" charset="0"/>
                        </a:rPr>
                        <a:t> loss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ctr">
                        <a:buNone/>
                      </a:pPr>
                      <a:r>
                        <a:rPr lang="en-US" sz="1400" b="0" i="0" u="none" strike="noStrike" dirty="0">
                          <a:solidFill>
                            <a:srgbClr val="000000"/>
                          </a:solidFill>
                          <a:effectLst/>
                          <a:latin typeface="Calibri" panose="020F0502020204030204" pitchFamily="34" charset="0"/>
                        </a:rPr>
                        <a:t>Achieved 95.8% AP with just 2.15 M parameters—ultra-lightweight</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ctr">
                        <a:buNone/>
                      </a:pPr>
                      <a:r>
                        <a:rPr lang="en-US" sz="1400" b="0" i="0" u="none" strike="noStrike" dirty="0">
                          <a:solidFill>
                            <a:srgbClr val="000000"/>
                          </a:solidFill>
                          <a:effectLst/>
                          <a:latin typeface="Calibri" panose="020F0502020204030204" pitchFamily="34" charset="0"/>
                        </a:rPr>
                        <a:t>Needs validation on larger field-scale datasets</a:t>
                      </a:r>
                    </a:p>
                  </a:txBody>
                  <a:tcPr marL="7620" marR="7620" marT="7620" marB="0" anchor="ctr">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extLst>
                  <a:ext uri="{0D108BD9-81ED-4DB2-BD59-A6C34878D82A}">
                    <a16:rowId xmlns:a16="http://schemas.microsoft.com/office/drawing/2014/main" val="282233364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3">
            <a:extLst>
              <a:ext uri="{FF2B5EF4-FFF2-40B4-BE49-F238E27FC236}">
                <a16:creationId xmlns:a16="http://schemas.microsoft.com/office/drawing/2014/main" id="{6216CC6E-A5C3-8EDC-E6FF-5CB8F7AE783B}"/>
              </a:ext>
            </a:extLst>
          </p:cNvPr>
          <p:cNvGraphicFramePr>
            <a:graphicFrameLocks noGrp="1"/>
          </p:cNvGraphicFramePr>
          <p:nvPr>
            <p:extLst>
              <p:ext uri="{D42A27DB-BD31-4B8C-83A1-F6EECF244321}">
                <p14:modId xmlns:p14="http://schemas.microsoft.com/office/powerpoint/2010/main" val="1924449142"/>
              </p:ext>
            </p:extLst>
          </p:nvPr>
        </p:nvGraphicFramePr>
        <p:xfrm>
          <a:off x="762000" y="1052194"/>
          <a:ext cx="10515600" cy="5463376"/>
        </p:xfrm>
        <a:graphic>
          <a:graphicData uri="http://schemas.openxmlformats.org/drawingml/2006/table">
            <a:tbl>
              <a:tblPr firstRow="1" bandRow="1">
                <a:tableStyleId>{2D5ABB26-0587-4C30-8999-92F81FD0307C}</a:tableStyleId>
              </a:tblPr>
              <a:tblGrid>
                <a:gridCol w="598459">
                  <a:extLst>
                    <a:ext uri="{9D8B030D-6E8A-4147-A177-3AD203B41FA5}">
                      <a16:colId xmlns:a16="http://schemas.microsoft.com/office/drawing/2014/main" val="20000"/>
                    </a:ext>
                  </a:extLst>
                </a:gridCol>
                <a:gridCol w="1881135">
                  <a:extLst>
                    <a:ext uri="{9D8B030D-6E8A-4147-A177-3AD203B41FA5}">
                      <a16:colId xmlns:a16="http://schemas.microsoft.com/office/drawing/2014/main" val="20001"/>
                    </a:ext>
                  </a:extLst>
                </a:gridCol>
                <a:gridCol w="1573884">
                  <a:extLst>
                    <a:ext uri="{9D8B030D-6E8A-4147-A177-3AD203B41FA5}">
                      <a16:colId xmlns:a16="http://schemas.microsoft.com/office/drawing/2014/main" val="20002"/>
                    </a:ext>
                  </a:extLst>
                </a:gridCol>
                <a:gridCol w="1623860">
                  <a:extLst>
                    <a:ext uri="{9D8B030D-6E8A-4147-A177-3AD203B41FA5}">
                      <a16:colId xmlns:a16="http://schemas.microsoft.com/office/drawing/2014/main" val="20003"/>
                    </a:ext>
                  </a:extLst>
                </a:gridCol>
                <a:gridCol w="1833628">
                  <a:extLst>
                    <a:ext uri="{9D8B030D-6E8A-4147-A177-3AD203B41FA5}">
                      <a16:colId xmlns:a16="http://schemas.microsoft.com/office/drawing/2014/main" val="20004"/>
                    </a:ext>
                  </a:extLst>
                </a:gridCol>
                <a:gridCol w="1502317">
                  <a:extLst>
                    <a:ext uri="{9D8B030D-6E8A-4147-A177-3AD203B41FA5}">
                      <a16:colId xmlns:a16="http://schemas.microsoft.com/office/drawing/2014/main" val="20005"/>
                    </a:ext>
                  </a:extLst>
                </a:gridCol>
                <a:gridCol w="1502317">
                  <a:extLst>
                    <a:ext uri="{9D8B030D-6E8A-4147-A177-3AD203B41FA5}">
                      <a16:colId xmlns:a16="http://schemas.microsoft.com/office/drawing/2014/main" val="20006"/>
                    </a:ext>
                  </a:extLst>
                </a:gridCol>
              </a:tblGrid>
              <a:tr h="942122">
                <a:tc>
                  <a:txBody>
                    <a:bodyPr/>
                    <a:lstStyle/>
                    <a:p>
                      <a:pPr marL="182880" algn="ctr">
                        <a:lnSpc>
                          <a:spcPct val="100000"/>
                        </a:lnSpc>
                        <a:spcBef>
                          <a:spcPts val="325"/>
                        </a:spcBef>
                      </a:pPr>
                      <a:r>
                        <a:rPr lang="en-IN" sz="1400" b="1" spc="-25" dirty="0">
                          <a:latin typeface="Calibri"/>
                          <a:cs typeface="Calibri"/>
                        </a:rPr>
                        <a:t>No</a:t>
                      </a:r>
                      <a:endParaRPr sz="1400" dirty="0">
                        <a:latin typeface="Calibri"/>
                        <a:cs typeface="Calibri"/>
                      </a:endParaRPr>
                    </a:p>
                  </a:txBody>
                  <a:tcPr marL="0" marR="0" marT="41275"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35" algn="ctr">
                        <a:lnSpc>
                          <a:spcPct val="100000"/>
                        </a:lnSpc>
                        <a:spcBef>
                          <a:spcPts val="325"/>
                        </a:spcBef>
                      </a:pPr>
                      <a:r>
                        <a:rPr sz="1400" b="1" spc="-10" dirty="0">
                          <a:latin typeface="Calibri"/>
                          <a:cs typeface="Calibri"/>
                        </a:rPr>
                        <a:t>Title</a:t>
                      </a:r>
                      <a:endParaRPr sz="1400" dirty="0">
                        <a:latin typeface="Calibri"/>
                        <a:cs typeface="Calibri"/>
                      </a:endParaRPr>
                    </a:p>
                  </a:txBody>
                  <a:tcPr marL="0" marR="0" marT="41275" marB="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tc>
                  <a:txBody>
                    <a:bodyPr/>
                    <a:lstStyle/>
                    <a:p>
                      <a:pPr marL="514984" algn="ctr">
                        <a:lnSpc>
                          <a:spcPct val="100000"/>
                        </a:lnSpc>
                        <a:spcBef>
                          <a:spcPts val="325"/>
                        </a:spcBef>
                      </a:pPr>
                      <a:r>
                        <a:rPr sz="1400" b="1" spc="-10" dirty="0">
                          <a:latin typeface="Calibri"/>
                          <a:cs typeface="Calibri"/>
                        </a:rPr>
                        <a:t>Author</a:t>
                      </a:r>
                      <a:endParaRPr sz="1400" dirty="0">
                        <a:latin typeface="Calibri"/>
                        <a:cs typeface="Calibri"/>
                      </a:endParaRPr>
                    </a:p>
                  </a:txBody>
                  <a:tcPr marL="0" marR="0" marT="41275" marB="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tc>
                  <a:txBody>
                    <a:bodyPr/>
                    <a:lstStyle/>
                    <a:p>
                      <a:pPr marL="657225" marR="147955" indent="-494665" algn="ctr">
                        <a:lnSpc>
                          <a:spcPct val="104900"/>
                        </a:lnSpc>
                        <a:spcBef>
                          <a:spcPts val="229"/>
                        </a:spcBef>
                      </a:pPr>
                      <a:r>
                        <a:rPr sz="1400" b="1" dirty="0">
                          <a:latin typeface="Calibri"/>
                          <a:cs typeface="Calibri"/>
                        </a:rPr>
                        <a:t>Journal</a:t>
                      </a:r>
                      <a:r>
                        <a:rPr sz="1400" b="1" spc="130" dirty="0">
                          <a:latin typeface="Calibri"/>
                          <a:cs typeface="Calibri"/>
                        </a:rPr>
                        <a:t> </a:t>
                      </a:r>
                      <a:r>
                        <a:rPr sz="1400" b="1" dirty="0">
                          <a:latin typeface="Calibri"/>
                          <a:cs typeface="Calibri"/>
                        </a:rPr>
                        <a:t>Name</a:t>
                      </a:r>
                      <a:r>
                        <a:rPr sz="1400" b="1" spc="90" dirty="0">
                          <a:latin typeface="Calibri"/>
                          <a:cs typeface="Calibri"/>
                        </a:rPr>
                        <a:t> </a:t>
                      </a:r>
                      <a:r>
                        <a:rPr sz="1400" b="1" spc="-50" dirty="0">
                          <a:latin typeface="Calibri"/>
                          <a:cs typeface="Calibri"/>
                        </a:rPr>
                        <a:t>&amp; </a:t>
                      </a:r>
                      <a:r>
                        <a:rPr sz="1400" b="1" spc="-20" dirty="0">
                          <a:latin typeface="Calibri"/>
                          <a:cs typeface="Calibri"/>
                        </a:rPr>
                        <a:t>Year</a:t>
                      </a:r>
                      <a:endParaRPr sz="1400" dirty="0">
                        <a:latin typeface="Calibri"/>
                        <a:cs typeface="Calibri"/>
                      </a:endParaRPr>
                    </a:p>
                  </a:txBody>
                  <a:tcPr marL="0" marR="0" marT="29209" marB="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tc>
                  <a:txBody>
                    <a:bodyPr/>
                    <a:lstStyle/>
                    <a:p>
                      <a:pPr marL="588010" marR="367030" indent="-208915" algn="ctr">
                        <a:lnSpc>
                          <a:spcPct val="104900"/>
                        </a:lnSpc>
                        <a:spcBef>
                          <a:spcPts val="229"/>
                        </a:spcBef>
                      </a:pPr>
                      <a:r>
                        <a:rPr sz="1400" b="1" spc="-10" dirty="0">
                          <a:latin typeface="Calibri"/>
                          <a:cs typeface="Calibri"/>
                        </a:rPr>
                        <a:t>Methodology Adapted</a:t>
                      </a:r>
                      <a:endParaRPr sz="1400" dirty="0">
                        <a:latin typeface="Calibri"/>
                        <a:cs typeface="Calibri"/>
                      </a:endParaRPr>
                    </a:p>
                  </a:txBody>
                  <a:tcPr marL="0" marR="0" marT="29209" marB="0" anchor="ct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254635" algn="ctr">
                        <a:lnSpc>
                          <a:spcPct val="100000"/>
                        </a:lnSpc>
                        <a:spcBef>
                          <a:spcPts val="325"/>
                        </a:spcBef>
                      </a:pPr>
                      <a:r>
                        <a:rPr sz="1400" b="1" dirty="0">
                          <a:latin typeface="Calibri"/>
                          <a:cs typeface="Calibri"/>
                        </a:rPr>
                        <a:t>Key</a:t>
                      </a:r>
                      <a:r>
                        <a:rPr sz="1400" b="1" spc="45" dirty="0">
                          <a:latin typeface="Calibri"/>
                          <a:cs typeface="Calibri"/>
                        </a:rPr>
                        <a:t> </a:t>
                      </a:r>
                      <a:r>
                        <a:rPr sz="1400" b="1" spc="-10" dirty="0">
                          <a:latin typeface="Calibri"/>
                          <a:cs typeface="Calibri"/>
                        </a:rPr>
                        <a:t>Findings</a:t>
                      </a:r>
                      <a:endParaRPr sz="1400" dirty="0">
                        <a:latin typeface="Calibri"/>
                        <a:cs typeface="Calibri"/>
                      </a:endParaRPr>
                    </a:p>
                  </a:txBody>
                  <a:tcPr marL="0" marR="0" marT="41275" marB="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tc>
                  <a:txBody>
                    <a:bodyPr/>
                    <a:lstStyle/>
                    <a:p>
                      <a:pPr marL="19050" algn="ctr">
                        <a:lnSpc>
                          <a:spcPct val="100000"/>
                        </a:lnSpc>
                        <a:spcBef>
                          <a:spcPts val="325"/>
                        </a:spcBef>
                      </a:pPr>
                      <a:r>
                        <a:rPr sz="1400" b="1" spc="-20" dirty="0">
                          <a:latin typeface="Calibri"/>
                          <a:cs typeface="Calibri"/>
                        </a:rPr>
                        <a:t>Gaps</a:t>
                      </a:r>
                      <a:endParaRPr sz="1400" dirty="0">
                        <a:latin typeface="Calibri"/>
                        <a:cs typeface="Calibri"/>
                      </a:endParaRPr>
                    </a:p>
                  </a:txBody>
                  <a:tcPr marL="0" marR="0" marT="41275" marB="0" anchor="ctr">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084634">
                <a:tc>
                  <a:txBody>
                    <a:bodyPr/>
                    <a:lstStyle/>
                    <a:p>
                      <a:pPr marL="92075" algn="ctr">
                        <a:lnSpc>
                          <a:spcPct val="100000"/>
                        </a:lnSpc>
                        <a:spcBef>
                          <a:spcPts val="285"/>
                        </a:spcBef>
                      </a:pPr>
                      <a:r>
                        <a:rPr lang="en-US" sz="1400" spc="-50" dirty="0">
                          <a:latin typeface="Calibri"/>
                          <a:cs typeface="Calibri"/>
                        </a:rPr>
                        <a:t>5</a:t>
                      </a:r>
                      <a:endParaRPr sz="1400" dirty="0">
                        <a:latin typeface="Calibri"/>
                        <a:cs typeface="Calibri"/>
                      </a:endParaRPr>
                    </a:p>
                  </a:txBody>
                  <a:tcPr marL="0" marR="0" marT="36195" marB="0" anchor="ctr">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ctr">
                        <a:buNone/>
                      </a:pPr>
                      <a:r>
                        <a:rPr lang="en-US" sz="1400" b="0" i="0" u="none" strike="noStrike" dirty="0">
                          <a:solidFill>
                            <a:srgbClr val="000000"/>
                          </a:solidFill>
                          <a:effectLst/>
                          <a:latin typeface="Calibri" panose="020F0502020204030204" pitchFamily="34" charset="0"/>
                        </a:rPr>
                        <a:t>Innovative lightweight deep learning architecture for enhanced rice pest identification (2024)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fr-FR" sz="1400" b="0" i="0" u="none" strike="noStrike" dirty="0">
                          <a:solidFill>
                            <a:srgbClr val="000000"/>
                          </a:solidFill>
                          <a:effectLst/>
                          <a:latin typeface="Calibri" panose="020F0502020204030204" pitchFamily="34" charset="0"/>
                        </a:rPr>
                        <a:t>Song et al., 2024, </a:t>
                      </a:r>
                      <a:r>
                        <a:rPr lang="fr-FR" sz="1400" b="0" i="0" u="none" strike="noStrike" dirty="0" err="1">
                          <a:solidFill>
                            <a:srgbClr val="000000"/>
                          </a:solidFill>
                          <a:effectLst/>
                          <a:latin typeface="Calibri" panose="020F0502020204030204" pitchFamily="34" charset="0"/>
                        </a:rPr>
                        <a:t>Physica</a:t>
                      </a:r>
                      <a:r>
                        <a:rPr lang="fr-FR" sz="1400" b="0" i="0" u="none" strike="noStrike" dirty="0">
                          <a:solidFill>
                            <a:srgbClr val="000000"/>
                          </a:solidFill>
                          <a:effectLst/>
                          <a:latin typeface="Calibri" panose="020F0502020204030204" pitchFamily="34" charset="0"/>
                        </a:rPr>
                        <a:t> Scripta</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sng" strike="noStrike" dirty="0">
                          <a:solidFill>
                            <a:srgbClr val="0563C1"/>
                          </a:solidFill>
                          <a:effectLst/>
                          <a:latin typeface="Calibri" panose="020F0502020204030204" pitchFamily="34" charset="0"/>
                        </a:rPr>
                        <a:t>https://ui.adsabs.harvard.edu/abs/2024PhyS...99i6007S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rPr>
                        <a:t>YOLOv8‑SCS (SPD‑Conv + CG block + Slide Loss)</a:t>
                      </a:r>
                    </a:p>
                    <a:p>
                      <a:pPr algn="ctr">
                        <a:lnSpc>
                          <a:spcPct val="100000"/>
                        </a:lnSpc>
                      </a:pPr>
                      <a:endParaRPr sz="1400" dirty="0">
                        <a:latin typeface="Times New Roman"/>
                        <a:cs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rgbClr val="000000"/>
                          </a:solidFill>
                          <a:effectLst/>
                          <a:latin typeface="Calibri" panose="020F0502020204030204" pitchFamily="34" charset="0"/>
                        </a:rPr>
                        <a:t>Improved </a:t>
                      </a:r>
                      <a:r>
                        <a:rPr lang="en-US" sz="1400" b="0" i="0" u="none" strike="noStrike" dirty="0" err="1">
                          <a:solidFill>
                            <a:srgbClr val="000000"/>
                          </a:solidFill>
                          <a:effectLst/>
                          <a:latin typeface="Calibri" panose="020F0502020204030204" pitchFamily="34" charset="0"/>
                        </a:rPr>
                        <a:t>mAP</a:t>
                      </a:r>
                      <a:r>
                        <a:rPr lang="en-US" sz="1400" b="0" i="0" u="none" strike="noStrike" dirty="0">
                          <a:solidFill>
                            <a:srgbClr val="000000"/>
                          </a:solidFill>
                          <a:effectLst/>
                          <a:latin typeface="Calibri" panose="020F0502020204030204" pitchFamily="34" charset="0"/>
                        </a:rPr>
                        <a:t> by 5.7% (to 87.9%); 44% fewer parameters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buNone/>
                      </a:pPr>
                      <a:r>
                        <a:rPr lang="en-US" sz="1400" b="0" i="0" u="none" strike="noStrike" dirty="0">
                          <a:solidFill>
                            <a:srgbClr val="000000"/>
                          </a:solidFill>
                          <a:effectLst/>
                          <a:latin typeface="Calibri" panose="020F0502020204030204" pitchFamily="34" charset="0"/>
                        </a:rPr>
                        <a:t>Tested only on proprietary dataset—public generalization unclear</a:t>
                      </a:r>
                    </a:p>
                  </a:txBody>
                  <a:tcPr marL="7620" marR="7620" marT="7620" marB="0" anchor="ctr">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130557">
                <a:tc>
                  <a:txBody>
                    <a:bodyPr/>
                    <a:lstStyle/>
                    <a:p>
                      <a:pPr marL="92075" algn="ctr">
                        <a:lnSpc>
                          <a:spcPct val="100000"/>
                        </a:lnSpc>
                        <a:spcBef>
                          <a:spcPts val="295"/>
                        </a:spcBef>
                      </a:pPr>
                      <a:r>
                        <a:rPr lang="en-US" sz="1400" spc="-50" dirty="0">
                          <a:latin typeface="Calibri"/>
                          <a:cs typeface="Calibri"/>
                        </a:rPr>
                        <a:t>6</a:t>
                      </a:r>
                      <a:endParaRPr sz="1400" dirty="0">
                        <a:latin typeface="Calibri"/>
                        <a:cs typeface="Calibri"/>
                      </a:endParaRPr>
                    </a:p>
                  </a:txBody>
                  <a:tcPr marL="0" marR="0" marT="37465" marB="0" anchor="ctr">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buNone/>
                      </a:pPr>
                      <a:r>
                        <a:rPr lang="en-US" sz="1400" b="0" i="0" u="none" strike="noStrike" dirty="0" err="1">
                          <a:solidFill>
                            <a:srgbClr val="000000"/>
                          </a:solidFill>
                          <a:effectLst/>
                          <a:latin typeface="Calibri" panose="020F0502020204030204" pitchFamily="34" charset="0"/>
                        </a:rPr>
                        <a:t>MobileNet</a:t>
                      </a:r>
                      <a:r>
                        <a:rPr lang="en-US" sz="1400" b="0" i="0" u="none" strike="noStrike" dirty="0">
                          <a:solidFill>
                            <a:srgbClr val="000000"/>
                          </a:solidFill>
                          <a:effectLst/>
                          <a:latin typeface="Calibri" panose="020F0502020204030204" pitchFamily="34" charset="0"/>
                        </a:rPr>
                        <a:t>-CA-YOLO: Improved YOLOv7 for Rice Pest &amp; Disease Detection</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0000"/>
                          </a:solidFill>
                          <a:effectLst/>
                          <a:latin typeface="Calibri" panose="020F0502020204030204" pitchFamily="34" charset="0"/>
                        </a:rPr>
                        <a:t>Q. Wang et al., 2023, MDPI</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sng" strike="noStrike" dirty="0">
                          <a:solidFill>
                            <a:srgbClr val="0563C1"/>
                          </a:solidFill>
                          <a:effectLst/>
                          <a:latin typeface="Calibri" panose="020F0502020204030204" pitchFamily="34" charset="0"/>
                          <a:hlinkClick r:id="rId2"/>
                        </a:rPr>
                        <a:t>https://plantmethods.biomedcentral.com/articles/10.1186/s13007-025-01381-w</a:t>
                      </a:r>
                      <a:endParaRPr lang="en-US" sz="1400" b="0" i="0" u="sng" strike="noStrike" dirty="0">
                        <a:solidFill>
                          <a:srgbClr val="0563C1"/>
                        </a:solidFill>
                        <a:effectLst/>
                        <a:latin typeface="Calibri" panose="020F050202020403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0000"/>
                          </a:solidFill>
                          <a:effectLst/>
                          <a:latin typeface="Calibri" panose="020F0502020204030204" pitchFamily="34" charset="0"/>
                        </a:rPr>
                        <a:t>YOLOv7 + MobileNetV3 + Channel Attention</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0000"/>
                          </a:solidFill>
                          <a:effectLst/>
                          <a:latin typeface="Calibri" panose="020F0502020204030204" pitchFamily="34" charset="0"/>
                        </a:rPr>
                        <a:t>Introduces </a:t>
                      </a:r>
                      <a:r>
                        <a:rPr lang="en-US" sz="1400" b="0" i="0" u="none" strike="noStrike" dirty="0" err="1">
                          <a:solidFill>
                            <a:srgbClr val="000000"/>
                          </a:solidFill>
                          <a:effectLst/>
                          <a:latin typeface="Calibri" panose="020F0502020204030204" pitchFamily="34" charset="0"/>
                        </a:rPr>
                        <a:t>MobileNet</a:t>
                      </a:r>
                      <a:r>
                        <a:rPr lang="en-US" sz="1400" b="0" i="0" u="none" strike="noStrike" dirty="0">
                          <a:solidFill>
                            <a:srgbClr val="000000"/>
                          </a:solidFill>
                          <a:effectLst/>
                          <a:latin typeface="Calibri" panose="020F0502020204030204" pitchFamily="34" charset="0"/>
                        </a:rPr>
                        <a:t>-CA for rice pest/disease detection with high precision and reduced size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0000"/>
                          </a:solidFill>
                          <a:effectLst/>
                          <a:latin typeface="Calibri" panose="020F0502020204030204" pitchFamily="34" charset="0"/>
                        </a:rPr>
                        <a:t>Limited to rice leaf blight; generalization to other pests/diseases untested</a:t>
                      </a:r>
                    </a:p>
                  </a:txBody>
                  <a:tcPr marL="7620" marR="7620" marT="7620" marB="0" anchor="ctr">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943246">
                <a:tc>
                  <a:txBody>
                    <a:bodyPr/>
                    <a:lstStyle/>
                    <a:p>
                      <a:pPr marL="92075" algn="ctr">
                        <a:lnSpc>
                          <a:spcPct val="100000"/>
                        </a:lnSpc>
                        <a:spcBef>
                          <a:spcPts val="295"/>
                        </a:spcBef>
                      </a:pPr>
                      <a:r>
                        <a:rPr lang="en-US" sz="1400" dirty="0">
                          <a:latin typeface="Calibri"/>
                          <a:cs typeface="Calibri"/>
                        </a:rPr>
                        <a:t>7</a:t>
                      </a:r>
                      <a:endParaRPr sz="1400" dirty="0">
                        <a:latin typeface="Calibri"/>
                        <a:cs typeface="Calibri"/>
                      </a:endParaRPr>
                    </a:p>
                  </a:txBody>
                  <a:tcPr marL="0" marR="0" marT="37465" marB="0" anchor="ctr">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0000"/>
                          </a:solidFill>
                          <a:effectLst/>
                          <a:latin typeface="Calibri" panose="020F0502020204030204" pitchFamily="34" charset="0"/>
                        </a:rPr>
                        <a:t>Improved Lightweight YOLOv8 Model for Rice Disease Detection in Multi-Scale Scenarios (RGC-YOLO)</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buNone/>
                      </a:pPr>
                      <a:r>
                        <a:rPr lang="da-DK" sz="1400" b="0" i="0" u="none" strike="noStrike" dirty="0">
                          <a:solidFill>
                            <a:srgbClr val="000000"/>
                          </a:solidFill>
                          <a:effectLst/>
                          <a:latin typeface="Calibri" panose="020F0502020204030204" pitchFamily="34" charset="0"/>
                        </a:rPr>
                        <a:t>S. Zhang et al., 2025, MDPI</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70C0"/>
                          </a:solidFill>
                          <a:effectLst/>
                          <a:latin typeface="Calibri" panose="020F0502020204030204" pitchFamily="34" charset="0"/>
                        </a:rPr>
                        <a:t>https://doi.org/10.3390/agronomy15020445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0000"/>
                          </a:solidFill>
                          <a:effectLst/>
                          <a:latin typeface="Calibri" panose="020F0502020204030204" pitchFamily="34" charset="0"/>
                        </a:rPr>
                        <a:t>YOLOv8 + </a:t>
                      </a:r>
                      <a:r>
                        <a:rPr lang="en-US" sz="1400" b="0" i="0" u="none" strike="noStrike" dirty="0" err="1">
                          <a:solidFill>
                            <a:srgbClr val="000000"/>
                          </a:solidFill>
                          <a:effectLst/>
                          <a:latin typeface="Calibri" panose="020F0502020204030204" pitchFamily="34" charset="0"/>
                        </a:rPr>
                        <a:t>RepGhostConv</a:t>
                      </a:r>
                      <a:r>
                        <a:rPr lang="en-US" sz="1400" b="0" i="0" u="none" strike="noStrike" dirty="0">
                          <a:solidFill>
                            <a:srgbClr val="000000"/>
                          </a:solidFill>
                          <a:effectLst/>
                          <a:latin typeface="Calibri" panose="020F0502020204030204" pitchFamily="34" charset="0"/>
                        </a:rPr>
                        <a:t> + CBAM</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0000"/>
                          </a:solidFill>
                          <a:effectLst/>
                          <a:latin typeface="Calibri" panose="020F0502020204030204" pitchFamily="34" charset="0"/>
                        </a:rPr>
                        <a:t>Boosts </a:t>
                      </a:r>
                      <a:r>
                        <a:rPr lang="en-US" sz="1400" b="0" i="0" u="none" strike="noStrike" dirty="0" err="1">
                          <a:solidFill>
                            <a:srgbClr val="000000"/>
                          </a:solidFill>
                          <a:effectLst/>
                          <a:latin typeface="Calibri" panose="020F0502020204030204" pitchFamily="34" charset="0"/>
                        </a:rPr>
                        <a:t>mAP</a:t>
                      </a:r>
                      <a:r>
                        <a:rPr lang="en-US" sz="1400" b="0" i="0" u="none" strike="noStrike" dirty="0">
                          <a:solidFill>
                            <a:srgbClr val="000000"/>
                          </a:solidFill>
                          <a:effectLst/>
                          <a:latin typeface="Calibri" panose="020F0502020204030204" pitchFamily="34" charset="0"/>
                        </a:rPr>
                        <a:t> (93.2%) with efficient feature fusion</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buNone/>
                      </a:pPr>
                      <a:r>
                        <a:rPr lang="en-US" sz="1400" b="0" i="0" u="none" strike="noStrike" dirty="0">
                          <a:solidFill>
                            <a:srgbClr val="000000"/>
                          </a:solidFill>
                          <a:effectLst/>
                          <a:latin typeface="Calibri" panose="020F0502020204030204" pitchFamily="34" charset="0"/>
                        </a:rPr>
                        <a:t>Focuses only on diseases, not insects; no comparison with multi-task models</a:t>
                      </a:r>
                    </a:p>
                  </a:txBody>
                  <a:tcPr marL="7620" marR="7620" marT="7620" marB="0" anchor="ctr">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0217556"/>
                  </a:ext>
                </a:extLst>
              </a:tr>
              <a:tr h="943246">
                <a:tc>
                  <a:txBody>
                    <a:bodyPr/>
                    <a:lstStyle/>
                    <a:p>
                      <a:pPr marL="92075" algn="ctr">
                        <a:lnSpc>
                          <a:spcPct val="100000"/>
                        </a:lnSpc>
                        <a:spcBef>
                          <a:spcPts val="295"/>
                        </a:spcBef>
                      </a:pPr>
                      <a:r>
                        <a:rPr lang="en-US" sz="1400" dirty="0">
                          <a:latin typeface="Calibri"/>
                          <a:cs typeface="Calibri"/>
                        </a:rPr>
                        <a:t>8</a:t>
                      </a:r>
                      <a:endParaRPr sz="1400" dirty="0">
                        <a:latin typeface="Calibri"/>
                        <a:cs typeface="Calibri"/>
                      </a:endParaRPr>
                    </a:p>
                  </a:txBody>
                  <a:tcPr marL="0" marR="0" marT="37465" marB="0" anchor="ctr">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b">
                        <a:buNone/>
                      </a:pPr>
                      <a:r>
                        <a:rPr lang="en-US" sz="1400" b="0" i="0" u="none" strike="noStrike" dirty="0">
                          <a:solidFill>
                            <a:srgbClr val="000000"/>
                          </a:solidFill>
                          <a:effectLst/>
                          <a:latin typeface="Calibri" panose="020F0502020204030204" pitchFamily="34" charset="0"/>
                        </a:rPr>
                        <a:t>Advanced Pest Detection Using MobileNetV2-YOLOv4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b">
                        <a:buNone/>
                      </a:pPr>
                      <a:r>
                        <a:rPr lang="en-US" sz="1400" b="0" i="0" u="none" strike="noStrike" dirty="0">
                          <a:solidFill>
                            <a:srgbClr val="000000"/>
                          </a:solidFill>
                          <a:effectLst/>
                          <a:latin typeface="Calibri" panose="020F0502020204030204" pitchFamily="34" charset="0"/>
                        </a:rPr>
                        <a:t>M. Hussain et al., 2023, IEEE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b">
                        <a:buNone/>
                      </a:pPr>
                      <a:r>
                        <a:rPr lang="en-US" sz="1400" b="0" i="0" u="none" strike="noStrike" dirty="0">
                          <a:solidFill>
                            <a:srgbClr val="0070C0"/>
                          </a:solidFill>
                          <a:effectLst/>
                          <a:latin typeface="Calibri" panose="020F0502020204030204" pitchFamily="34" charset="0"/>
                        </a:rPr>
                        <a:t>https://ieeexplore.ieee.org/document/10054894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b">
                        <a:buNone/>
                      </a:pPr>
                      <a:r>
                        <a:rPr lang="en-US" sz="1400" b="0" i="0" u="none" strike="noStrike" dirty="0">
                          <a:solidFill>
                            <a:srgbClr val="000000"/>
                          </a:solidFill>
                          <a:effectLst/>
                          <a:latin typeface="Calibri" panose="020F0502020204030204" pitchFamily="34" charset="0"/>
                        </a:rPr>
                        <a:t>MobileNetV2 + YOLOv4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b">
                        <a:buNone/>
                      </a:pPr>
                      <a:r>
                        <a:rPr lang="en-US" sz="1400" b="0" i="0" u="none" strike="noStrike" dirty="0">
                          <a:solidFill>
                            <a:srgbClr val="000000"/>
                          </a:solidFill>
                          <a:effectLst/>
                          <a:latin typeface="Calibri" panose="020F0502020204030204" pitchFamily="34" charset="0"/>
                        </a:rPr>
                        <a:t>Combines low-resource feature extraction with accurate detection</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gn="ctr" fontAlgn="b">
                        <a:buNone/>
                      </a:pPr>
                      <a:r>
                        <a:rPr lang="en-US" sz="1400" b="0" i="0" u="none" strike="noStrike" dirty="0">
                          <a:solidFill>
                            <a:srgbClr val="000000"/>
                          </a:solidFill>
                          <a:effectLst/>
                          <a:latin typeface="Calibri" panose="020F0502020204030204" pitchFamily="34" charset="0"/>
                        </a:rPr>
                        <a:t>Lacks detailed ablation study; dataset size and diversity are not mentioned</a:t>
                      </a:r>
                    </a:p>
                  </a:txBody>
                  <a:tcPr marL="7620" marR="7620" marT="7620" marB="0" anchor="ctr">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extLst>
                  <a:ext uri="{0D108BD9-81ED-4DB2-BD59-A6C34878D82A}">
                    <a16:rowId xmlns:a16="http://schemas.microsoft.com/office/drawing/2014/main" val="139659271"/>
                  </a:ext>
                </a:extLst>
              </a:tr>
            </a:tbl>
          </a:graphicData>
        </a:graphic>
      </p:graphicFrame>
      <p:sp>
        <p:nvSpPr>
          <p:cNvPr id="4" name="TextBox 3">
            <a:extLst>
              <a:ext uri="{FF2B5EF4-FFF2-40B4-BE49-F238E27FC236}">
                <a16:creationId xmlns:a16="http://schemas.microsoft.com/office/drawing/2014/main" id="{61928CE7-C896-0B1B-4887-D962EFC0E6D5}"/>
              </a:ext>
            </a:extLst>
          </p:cNvPr>
          <p:cNvSpPr txBox="1"/>
          <p:nvPr/>
        </p:nvSpPr>
        <p:spPr>
          <a:xfrm>
            <a:off x="3886200" y="228600"/>
            <a:ext cx="6094428" cy="64633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LITERATURE</a:t>
            </a:r>
            <a:r>
              <a:rPr lang="en-US" sz="1800" b="1" spc="-185" dirty="0"/>
              <a:t>  </a:t>
            </a:r>
            <a:r>
              <a:rPr lang="en-US" sz="3600" b="1" spc="-10" dirty="0">
                <a:latin typeface="Times New Roman" panose="02020603050405020304" pitchFamily="18" charset="0"/>
                <a:cs typeface="Times New Roman" panose="02020603050405020304" pitchFamily="18" charset="0"/>
              </a:rPr>
              <a:t>SURVEY</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8018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188210">
              <a:lnSpc>
                <a:spcPct val="100000"/>
              </a:lnSpc>
              <a:spcBef>
                <a:spcPts val="130"/>
              </a:spcBef>
            </a:pPr>
            <a:r>
              <a:rPr spc="-35" dirty="0"/>
              <a:t>LITERATURE</a:t>
            </a:r>
            <a:r>
              <a:rPr spc="-204" dirty="0"/>
              <a:t> </a:t>
            </a:r>
            <a:r>
              <a:rPr spc="-10" dirty="0"/>
              <a:t>SURVEY</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8</a:t>
            </a:fld>
            <a:endParaRPr spc="-25" dirty="0"/>
          </a:p>
        </p:txBody>
      </p:sp>
      <p:sp>
        <p:nvSpPr>
          <p:cNvPr id="3" name="object 3"/>
          <p:cNvSpPr txBox="1"/>
          <p:nvPr/>
        </p:nvSpPr>
        <p:spPr>
          <a:xfrm>
            <a:off x="282273" y="1219200"/>
            <a:ext cx="11734799" cy="4839145"/>
          </a:xfrm>
          <a:prstGeom prst="rect">
            <a:avLst/>
          </a:prstGeom>
        </p:spPr>
        <p:txBody>
          <a:bodyPr vert="horz" wrap="square" lIns="0" tIns="98425" rIns="0" bIns="0" rtlCol="0">
            <a:spAutoFit/>
          </a:bodyPr>
          <a:lstStyle/>
          <a:p>
            <a:pPr marL="285750" indent="-285750">
              <a:buFont typeface="Arial" panose="020B0604020202020204" pitchFamily="34" charset="0"/>
              <a:buChar char="•"/>
            </a:pPr>
            <a:r>
              <a:rPr lang="en-US" sz="2400" b="1" dirty="0"/>
              <a:t>Hussain et al., 2023 – Advanced Pest Detection Using MobileNetV2-YOLOv4</a:t>
            </a:r>
          </a:p>
          <a:p>
            <a:pPr lvl="1"/>
            <a:r>
              <a:rPr lang="en-US" sz="2400" dirty="0"/>
              <a:t> 	Key Finding:</a:t>
            </a:r>
            <a:br>
              <a:rPr lang="en-US" sz="2400" dirty="0"/>
            </a:br>
            <a:r>
              <a:rPr lang="en-US" sz="2400" dirty="0"/>
              <a:t>	Combined MobileNetV2 for lightweight feature extraction with YOLOv4 detection head.</a:t>
            </a:r>
          </a:p>
          <a:p>
            <a:pPr lvl="1"/>
            <a:r>
              <a:rPr lang="en-US" sz="2400" dirty="0"/>
              <a:t>	Relation to Our Work:</a:t>
            </a:r>
            <a:br>
              <a:rPr lang="en-US" sz="2400" dirty="0"/>
            </a:br>
            <a:r>
              <a:rPr lang="en-US" sz="2400" dirty="0"/>
              <a:t>	Inspired the efficient feature extraction approach used in our hybrid Vision Transformer model.</a:t>
            </a:r>
          </a:p>
          <a:p>
            <a:pPr marL="355600" indent="-342900">
              <a:spcBef>
                <a:spcPts val="775"/>
              </a:spcBef>
              <a:buFont typeface="Arial" panose="020B0604020202020204" pitchFamily="34" charset="0"/>
              <a:buChar char="•"/>
              <a:tabLst>
                <a:tab pos="240665" algn="l"/>
              </a:tabLst>
            </a:pPr>
            <a:r>
              <a:rPr lang="en-US" sz="2400" b="1" dirty="0"/>
              <a:t>Chen et al., 2024 – Rice Pest Recognition Method Based on Improved YOLOv8</a:t>
            </a:r>
          </a:p>
          <a:p>
            <a:pPr marL="12700">
              <a:lnSpc>
                <a:spcPct val="100000"/>
              </a:lnSpc>
              <a:spcBef>
                <a:spcPts val="775"/>
              </a:spcBef>
              <a:tabLst>
                <a:tab pos="240665" algn="l"/>
              </a:tabLst>
            </a:pPr>
            <a:r>
              <a:rPr lang="en-US" sz="2400" dirty="0"/>
              <a:t>		Key Finding: Integrated GAM attention with YOLOv8 for improved detection of small rice pests, achieving ~91.3% accuracy.</a:t>
            </a:r>
          </a:p>
          <a:p>
            <a:pPr marL="12700">
              <a:lnSpc>
                <a:spcPct val="100000"/>
              </a:lnSpc>
              <a:spcBef>
                <a:spcPts val="775"/>
              </a:spcBef>
              <a:tabLst>
                <a:tab pos="240665" algn="l"/>
              </a:tabLst>
            </a:pPr>
            <a:r>
              <a:rPr lang="en-US" sz="2400" dirty="0"/>
              <a:t>		Relation to Our Work: Inspired our model’s attention-driven enhancement for better local feature extraction in complex pest images.</a:t>
            </a:r>
            <a:endParaRPr sz="2400" dirty="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62B36E-C371-B065-E532-6B9ED2E13BFA}"/>
              </a:ext>
            </a:extLst>
          </p:cNvPr>
          <p:cNvSpPr txBox="1"/>
          <p:nvPr/>
        </p:nvSpPr>
        <p:spPr>
          <a:xfrm>
            <a:off x="457200" y="762000"/>
            <a:ext cx="11430000" cy="6225113"/>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2400" b="1" dirty="0"/>
              <a:t>Zhuang et al., 2024 – Natural Scene Rice Pest Detection Based on YOLOv5</a:t>
            </a:r>
          </a:p>
          <a:p>
            <a:pPr algn="just">
              <a:lnSpc>
                <a:spcPct val="150000"/>
              </a:lnSpc>
            </a:pPr>
            <a:r>
              <a:rPr lang="en-US" sz="2400" dirty="0"/>
              <a:t>		Key Finding: Adapted YOLOv5 for unstructured natural environments, improving real-field pest recognition accuracy.</a:t>
            </a:r>
          </a:p>
          <a:p>
            <a:pPr algn="just">
              <a:lnSpc>
                <a:spcPct val="150000"/>
              </a:lnSpc>
            </a:pPr>
            <a:r>
              <a:rPr lang="en-US" sz="2400" dirty="0"/>
              <a:t>		Relation to Our Work: Motivated the field-level robustness of our preprocessing pipeline under variable lighting and background conditions.</a:t>
            </a:r>
          </a:p>
          <a:p>
            <a:pPr marL="285750" indent="-285750" algn="just">
              <a:lnSpc>
                <a:spcPct val="150000"/>
              </a:lnSpc>
              <a:buFont typeface="Arial" panose="020B0604020202020204" pitchFamily="34" charset="0"/>
              <a:buChar char="•"/>
            </a:pPr>
            <a:r>
              <a:rPr lang="en-US" sz="2400" b="1" dirty="0"/>
              <a:t>Ali et al., 2023 – TP-YOLO: Tiny Pest Detection via Attention Architecture</a:t>
            </a:r>
          </a:p>
          <a:p>
            <a:pPr algn="just">
              <a:lnSpc>
                <a:spcPct val="150000"/>
              </a:lnSpc>
            </a:pPr>
            <a:r>
              <a:rPr lang="en-US" sz="2400" dirty="0"/>
              <a:t>		Key Finding: Proposed a lightweight attention-based TP-YOLO, enabling efficient detection of tiny pests on mobile and edge device.</a:t>
            </a:r>
          </a:p>
          <a:p>
            <a:pPr algn="just">
              <a:lnSpc>
                <a:spcPct val="150000"/>
              </a:lnSpc>
            </a:pPr>
            <a:r>
              <a:rPr lang="en-US" sz="2400" dirty="0"/>
              <a:t>		Relation to Our Work: Inspired our parameter-efficient design with Vision Transformer layers for scalable inference in real-time applications.</a:t>
            </a:r>
          </a:p>
          <a:p>
            <a:pPr algn="just">
              <a:lnSpc>
                <a:spcPct val="150000"/>
              </a:lnSpc>
            </a:pPr>
            <a:endParaRPr lang="en-IN" dirty="0"/>
          </a:p>
        </p:txBody>
      </p:sp>
    </p:spTree>
    <p:extLst>
      <p:ext uri="{BB962C8B-B14F-4D97-AF65-F5344CB8AC3E}">
        <p14:creationId xmlns:p14="http://schemas.microsoft.com/office/powerpoint/2010/main" val="2935079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24B20-6DCA-610A-1074-48865033CB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4FE014E-F72C-218D-2126-4301E65A0750}"/>
              </a:ext>
            </a:extLst>
          </p:cNvPr>
          <p:cNvSpPr txBox="1"/>
          <p:nvPr/>
        </p:nvSpPr>
        <p:spPr>
          <a:xfrm>
            <a:off x="381000" y="685800"/>
            <a:ext cx="11582400" cy="611782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400" b="1" dirty="0"/>
              <a:t>Yin et al., 2024 – Lightweight Rice Pest Detection Using Improved YOLOv8</a:t>
            </a:r>
          </a:p>
          <a:p>
            <a:pPr>
              <a:lnSpc>
                <a:spcPct val="150000"/>
              </a:lnSpc>
            </a:pPr>
            <a:r>
              <a:rPr lang="en-US" sz="2400" dirty="0"/>
              <a:t>		Key Finding: Introduced M-CBAM attention and </a:t>
            </a:r>
            <a:r>
              <a:rPr lang="en-US" sz="2400" dirty="0" err="1"/>
              <a:t>MPDIoU</a:t>
            </a:r>
            <a:r>
              <a:rPr lang="en-US" sz="2400" dirty="0"/>
              <a:t> loss to achieve 95.8% AP with minimal model size.</a:t>
            </a:r>
          </a:p>
          <a:p>
            <a:pPr>
              <a:lnSpc>
                <a:spcPct val="150000"/>
              </a:lnSpc>
            </a:pPr>
            <a:r>
              <a:rPr lang="en-US" sz="2400" dirty="0"/>
              <a:t>		Relation to Our Work: Guided our model compression and optimization strategy for efficient </a:t>
            </a:r>
            <a:r>
              <a:rPr lang="en-US" sz="2400" dirty="0" err="1"/>
              <a:t>ViT</a:t>
            </a:r>
            <a:r>
              <a:rPr lang="en-US" sz="2400" dirty="0"/>
              <a:t>-based classification.</a:t>
            </a:r>
          </a:p>
          <a:p>
            <a:pPr marL="285750" indent="-285750">
              <a:lnSpc>
                <a:spcPct val="150000"/>
              </a:lnSpc>
              <a:buFont typeface="Arial" panose="020B0604020202020204" pitchFamily="34" charset="0"/>
              <a:buChar char="•"/>
            </a:pPr>
            <a:r>
              <a:rPr lang="en-US" sz="2400" b="1" dirty="0"/>
              <a:t>Song et al., 2024 – Lightweight Deep Learning Architecture for Pest Identification</a:t>
            </a:r>
          </a:p>
          <a:p>
            <a:pPr lvl="1">
              <a:lnSpc>
                <a:spcPct val="150000"/>
              </a:lnSpc>
            </a:pPr>
            <a:r>
              <a:rPr lang="en-US" sz="2400" dirty="0"/>
              <a:t>		Key Finding: Presented YOLOv8-SCS (SPD-Conv + CG block) achieving 87.9% </a:t>
            </a:r>
            <a:r>
              <a:rPr lang="en-US" sz="2400" dirty="0" err="1"/>
              <a:t>mAP</a:t>
            </a:r>
            <a:r>
              <a:rPr lang="en-US" sz="2400" dirty="0"/>
              <a:t> with 44% fewer parameters.</a:t>
            </a:r>
          </a:p>
          <a:p>
            <a:pPr>
              <a:lnSpc>
                <a:spcPct val="150000"/>
              </a:lnSpc>
            </a:pPr>
            <a:r>
              <a:rPr lang="en-US" sz="2400" dirty="0"/>
              <a:t>		Relation to Our Work: Encouraged integration of lightweight transformer backbones for efficient pest classification.</a:t>
            </a:r>
            <a:endParaRPr lang="en-IN" dirty="0"/>
          </a:p>
        </p:txBody>
      </p:sp>
    </p:spTree>
    <p:extLst>
      <p:ext uri="{BB962C8B-B14F-4D97-AF65-F5344CB8AC3E}">
        <p14:creationId xmlns:p14="http://schemas.microsoft.com/office/powerpoint/2010/main" val="261815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856230">
              <a:lnSpc>
                <a:spcPct val="100000"/>
              </a:lnSpc>
              <a:spcBef>
                <a:spcPts val="130"/>
              </a:spcBef>
            </a:pPr>
            <a:r>
              <a:rPr dirty="0"/>
              <a:t>RESEARCH</a:t>
            </a:r>
            <a:r>
              <a:rPr spc="-140" dirty="0"/>
              <a:t> </a:t>
            </a:r>
            <a:r>
              <a:rPr spc="-20" dirty="0"/>
              <a:t>GAPS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11</a:t>
            </a:fld>
            <a:endParaRPr spc="-25" dirty="0"/>
          </a:p>
        </p:txBody>
      </p:sp>
      <p:sp>
        <p:nvSpPr>
          <p:cNvPr id="11" name="TextBox 10">
            <a:extLst>
              <a:ext uri="{FF2B5EF4-FFF2-40B4-BE49-F238E27FC236}">
                <a16:creationId xmlns:a16="http://schemas.microsoft.com/office/drawing/2014/main" id="{967B7073-FE33-FCF7-5534-3CC60CE76A40}"/>
              </a:ext>
            </a:extLst>
          </p:cNvPr>
          <p:cNvSpPr txBox="1"/>
          <p:nvPr/>
        </p:nvSpPr>
        <p:spPr>
          <a:xfrm>
            <a:off x="917575" y="1483468"/>
            <a:ext cx="10402951" cy="445583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dirty="0"/>
              <a:t>Limited validation on diverse, real-field pest datasets.</a:t>
            </a:r>
          </a:p>
          <a:p>
            <a:pPr marL="342900" indent="-342900">
              <a:lnSpc>
                <a:spcPct val="150000"/>
              </a:lnSpc>
              <a:buFont typeface="Arial" panose="020B0604020202020204" pitchFamily="34" charset="0"/>
              <a:buChar char="•"/>
            </a:pPr>
            <a:r>
              <a:rPr lang="en-US" sz="2400" dirty="0"/>
              <a:t>Lack of domain-specific contextual or semantic understanding.</a:t>
            </a:r>
          </a:p>
          <a:p>
            <a:pPr marL="342900" indent="-342900">
              <a:lnSpc>
                <a:spcPct val="150000"/>
              </a:lnSpc>
              <a:buFont typeface="Arial" panose="020B0604020202020204" pitchFamily="34" charset="0"/>
              <a:buChar char="•"/>
            </a:pPr>
            <a:r>
              <a:rPr lang="en-US" sz="2400" dirty="0"/>
              <a:t>Poor performance under varying lighting and background conditions.</a:t>
            </a:r>
          </a:p>
          <a:p>
            <a:pPr marL="342900" indent="-342900">
              <a:lnSpc>
                <a:spcPct val="150000"/>
              </a:lnSpc>
              <a:buFont typeface="Arial" panose="020B0604020202020204" pitchFamily="34" charset="0"/>
              <a:buChar char="•"/>
            </a:pPr>
            <a:r>
              <a:rPr lang="en-US" sz="2400" dirty="0"/>
              <a:t>Insufficient exploration of transformer-based architectures in pest detection.</a:t>
            </a:r>
          </a:p>
          <a:p>
            <a:pPr marL="342900" indent="-342900">
              <a:lnSpc>
                <a:spcPct val="150000"/>
              </a:lnSpc>
              <a:buFont typeface="Arial" panose="020B0604020202020204" pitchFamily="34" charset="0"/>
              <a:buChar char="•"/>
            </a:pPr>
            <a:r>
              <a:rPr lang="en-US" sz="2400" dirty="0"/>
              <a:t>Limited focus on connecting classification with actionable agricultural insights.</a:t>
            </a:r>
          </a:p>
          <a:p>
            <a:pPr marL="342900" indent="-342900">
              <a:lnSpc>
                <a:spcPct val="150000"/>
              </a:lnSpc>
              <a:buFont typeface="Arial" panose="020B0604020202020204" pitchFamily="34" charset="0"/>
              <a:buChar char="•"/>
            </a:pPr>
            <a:endParaRPr lang="en-IN"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2F099-90C9-811B-11CA-C4366D41AA7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3A36A9F-11BA-5F27-FE88-96BBE54EFAD3}"/>
              </a:ext>
            </a:extLst>
          </p:cNvPr>
          <p:cNvSpPr txBox="1">
            <a:spLocks noGrp="1"/>
          </p:cNvSpPr>
          <p:nvPr>
            <p:ph type="title"/>
          </p:nvPr>
        </p:nvSpPr>
        <p:spPr>
          <a:prstGeom prst="rect">
            <a:avLst/>
          </a:prstGeom>
        </p:spPr>
        <p:txBody>
          <a:bodyPr vert="horz" wrap="square" lIns="0" tIns="262889" rIns="0" bIns="0" rtlCol="0">
            <a:spAutoFit/>
          </a:bodyPr>
          <a:lstStyle/>
          <a:p>
            <a:pPr marL="2856230">
              <a:lnSpc>
                <a:spcPct val="100000"/>
              </a:lnSpc>
              <a:spcBef>
                <a:spcPts val="130"/>
              </a:spcBef>
            </a:pPr>
            <a:r>
              <a:rPr dirty="0"/>
              <a:t>RESEARCH</a:t>
            </a:r>
            <a:r>
              <a:rPr spc="-140" dirty="0"/>
              <a:t> </a:t>
            </a:r>
            <a:r>
              <a:rPr spc="-20" dirty="0"/>
              <a:t>GAPS</a:t>
            </a:r>
          </a:p>
        </p:txBody>
      </p:sp>
      <p:sp>
        <p:nvSpPr>
          <p:cNvPr id="4" name="object 4">
            <a:extLst>
              <a:ext uri="{FF2B5EF4-FFF2-40B4-BE49-F238E27FC236}">
                <a16:creationId xmlns:a16="http://schemas.microsoft.com/office/drawing/2014/main" id="{B0F8D35A-A085-BB1C-631D-4687796C5AA3}"/>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a:extLst>
              <a:ext uri="{FF2B5EF4-FFF2-40B4-BE49-F238E27FC236}">
                <a16:creationId xmlns:a16="http://schemas.microsoft.com/office/drawing/2014/main" id="{F075DBE3-D1B4-FCFD-C5FE-BBAB97571B54}"/>
              </a:ext>
            </a:extLst>
          </p:cNvPr>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a:extLst>
              <a:ext uri="{FF2B5EF4-FFF2-40B4-BE49-F238E27FC236}">
                <a16:creationId xmlns:a16="http://schemas.microsoft.com/office/drawing/2014/main" id="{BC4944DF-E553-130B-BE75-7077A6EFF7CF}"/>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a:extLst>
              <a:ext uri="{FF2B5EF4-FFF2-40B4-BE49-F238E27FC236}">
                <a16:creationId xmlns:a16="http://schemas.microsoft.com/office/drawing/2014/main" id="{835E12DA-F5A5-640C-1C6D-2E956285FD4D}"/>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17885722-8877-BAC3-D5AD-AD61A32CFE2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12</a:t>
            </a:fld>
            <a:endParaRPr spc="-25" dirty="0"/>
          </a:p>
        </p:txBody>
      </p:sp>
      <p:sp>
        <p:nvSpPr>
          <p:cNvPr id="11" name="TextBox 10">
            <a:extLst>
              <a:ext uri="{FF2B5EF4-FFF2-40B4-BE49-F238E27FC236}">
                <a16:creationId xmlns:a16="http://schemas.microsoft.com/office/drawing/2014/main" id="{E7A7C61C-4D10-CF2C-D517-F33DEB44F480}"/>
              </a:ext>
            </a:extLst>
          </p:cNvPr>
          <p:cNvSpPr txBox="1"/>
          <p:nvPr/>
        </p:nvSpPr>
        <p:spPr>
          <a:xfrm>
            <a:off x="1045463" y="1600200"/>
            <a:ext cx="9986899" cy="445583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dirty="0"/>
              <a:t>Absence of hybrid visual–knowledge-based reasoning models.</a:t>
            </a:r>
          </a:p>
          <a:p>
            <a:pPr marL="342900" indent="-342900">
              <a:lnSpc>
                <a:spcPct val="150000"/>
              </a:lnSpc>
              <a:buFont typeface="Arial" panose="020B0604020202020204" pitchFamily="34" charset="0"/>
              <a:buChar char="•"/>
            </a:pPr>
            <a:r>
              <a:rPr lang="en-US" sz="2400" dirty="0"/>
              <a:t>Minimal integration of lightweight models for mobile or edge deployment.</a:t>
            </a:r>
          </a:p>
          <a:p>
            <a:pPr marL="342900" indent="-342900">
              <a:lnSpc>
                <a:spcPct val="150000"/>
              </a:lnSpc>
              <a:buFont typeface="Arial" panose="020B0604020202020204" pitchFamily="34" charset="0"/>
              <a:buChar char="•"/>
            </a:pPr>
            <a:r>
              <a:rPr lang="en-US" sz="2400" dirty="0"/>
              <a:t>Lack of interpretability and explainability in deep learning predictions.</a:t>
            </a:r>
          </a:p>
          <a:p>
            <a:pPr marL="342900" indent="-342900">
              <a:lnSpc>
                <a:spcPct val="150000"/>
              </a:lnSpc>
              <a:buFont typeface="Arial" panose="020B0604020202020204" pitchFamily="34" charset="0"/>
              <a:buChar char="•"/>
            </a:pPr>
            <a:r>
              <a:rPr lang="en-US" sz="2400" dirty="0"/>
              <a:t>Insufficient ablation and comparative analysis for model optimization.</a:t>
            </a:r>
          </a:p>
          <a:p>
            <a:pPr marL="342900" indent="-342900">
              <a:lnSpc>
                <a:spcPct val="150000"/>
              </a:lnSpc>
              <a:buFont typeface="Arial" panose="020B0604020202020204" pitchFamily="34" charset="0"/>
              <a:buChar char="•"/>
            </a:pPr>
            <a:r>
              <a:rPr lang="en-US" sz="2400" dirty="0"/>
              <a:t>Inconsistent use of standardized open datasets for benchmarking.</a:t>
            </a:r>
          </a:p>
          <a:p>
            <a:pPr marL="342900" indent="-342900">
              <a:lnSpc>
                <a:spcPct val="150000"/>
              </a:lnSpc>
              <a:buFont typeface="Arial" panose="020B0604020202020204" pitchFamily="34" charset="0"/>
              <a:buChar char="•"/>
            </a:pPr>
            <a:r>
              <a:rPr lang="en-US" sz="2400" dirty="0"/>
              <a:t>Neglect of multi-task learning combining detection and recommendation.</a:t>
            </a:r>
            <a:endParaRPr lang="en-IN" sz="2400" dirty="0"/>
          </a:p>
        </p:txBody>
      </p:sp>
    </p:spTree>
    <p:extLst>
      <p:ext uri="{BB962C8B-B14F-4D97-AF65-F5344CB8AC3E}">
        <p14:creationId xmlns:p14="http://schemas.microsoft.com/office/powerpoint/2010/main" val="2945207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027555">
              <a:lnSpc>
                <a:spcPct val="100000"/>
              </a:lnSpc>
              <a:spcBef>
                <a:spcPts val="130"/>
              </a:spcBef>
            </a:pPr>
            <a:r>
              <a:rPr dirty="0"/>
              <a:t>PROBLEM</a:t>
            </a:r>
            <a:r>
              <a:rPr spc="-170" dirty="0"/>
              <a:t> </a:t>
            </a:r>
            <a:r>
              <a:rPr spc="-50" dirty="0"/>
              <a:t>STATEMENT</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13</a:t>
            </a:fld>
            <a:endParaRPr spc="-25" dirty="0"/>
          </a:p>
        </p:txBody>
      </p:sp>
      <p:sp>
        <p:nvSpPr>
          <p:cNvPr id="12" name="TextBox 11">
            <a:extLst>
              <a:ext uri="{FF2B5EF4-FFF2-40B4-BE49-F238E27FC236}">
                <a16:creationId xmlns:a16="http://schemas.microsoft.com/office/drawing/2014/main" id="{9476A0E6-989C-1EBF-66F7-2FD261FFF84A}"/>
              </a:ext>
            </a:extLst>
          </p:cNvPr>
          <p:cNvSpPr txBox="1"/>
          <p:nvPr/>
        </p:nvSpPr>
        <p:spPr>
          <a:xfrm rot="10800000" flipH="1" flipV="1">
            <a:off x="1447800" y="1226022"/>
            <a:ext cx="10439399" cy="500983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t>Existing pest detection models struggle to achieve consistent accuracy across varied pest species, crop types, and environmental conditions.</a:t>
            </a:r>
          </a:p>
          <a:p>
            <a:pPr marL="342900" indent="-342900">
              <a:lnSpc>
                <a:spcPct val="150000"/>
              </a:lnSpc>
              <a:buFont typeface="Arial" panose="020B0604020202020204" pitchFamily="34" charset="0"/>
              <a:buChar char="•"/>
            </a:pPr>
            <a:r>
              <a:rPr lang="en-US" sz="2400" dirty="0"/>
              <a:t>Most deep learning models focus solely on image classification without providing actionable, domain-aware agricultural recommendations.</a:t>
            </a:r>
          </a:p>
          <a:p>
            <a:pPr marL="342900" indent="-342900">
              <a:lnSpc>
                <a:spcPct val="150000"/>
              </a:lnSpc>
              <a:buFont typeface="Arial" panose="020B0604020202020204" pitchFamily="34" charset="0"/>
              <a:buChar char="•"/>
            </a:pPr>
            <a:r>
              <a:rPr lang="en-US" sz="2400" dirty="0"/>
              <a:t>Current CNN and YOLO-based approaches lack scalability, interpretability, and efficiency for real-time field deployment.</a:t>
            </a:r>
          </a:p>
          <a:p>
            <a:pPr marL="342900" indent="-342900">
              <a:lnSpc>
                <a:spcPct val="150000"/>
              </a:lnSpc>
              <a:buFont typeface="Arial" panose="020B0604020202020204" pitchFamily="34" charset="0"/>
              <a:buChar char="•"/>
            </a:pPr>
            <a:r>
              <a:rPr lang="en-US" sz="2400" dirty="0"/>
              <a:t>There is a need for an integrated, intelligent system that combines visual recognition with expert-driven knowledge to support farmers in timely pest management decisions.</a:t>
            </a:r>
            <a:endParaRPr lang="en-IN"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3454400">
              <a:lnSpc>
                <a:spcPct val="100000"/>
              </a:lnSpc>
              <a:spcBef>
                <a:spcPts val="130"/>
              </a:spcBef>
            </a:pPr>
            <a:r>
              <a:rPr spc="-10" dirty="0"/>
              <a:t>OBJECTIVES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14</a:t>
            </a:fld>
            <a:endParaRPr spc="-25" dirty="0"/>
          </a:p>
        </p:txBody>
      </p:sp>
      <p:sp>
        <p:nvSpPr>
          <p:cNvPr id="3" name="object 3"/>
          <p:cNvSpPr txBox="1"/>
          <p:nvPr/>
        </p:nvSpPr>
        <p:spPr>
          <a:xfrm>
            <a:off x="917575" y="1730872"/>
            <a:ext cx="10893425" cy="4470455"/>
          </a:xfrm>
          <a:prstGeom prst="rect">
            <a:avLst/>
          </a:prstGeom>
        </p:spPr>
        <p:txBody>
          <a:bodyPr vert="horz" wrap="square" lIns="0" tIns="99060" rIns="0" bIns="0" rtlCol="0">
            <a:spAutoFit/>
          </a:bodyPr>
          <a:lstStyle/>
          <a:p>
            <a:pPr marL="355600" indent="-342900">
              <a:lnSpc>
                <a:spcPct val="100000"/>
              </a:lnSpc>
              <a:spcBef>
                <a:spcPts val="780"/>
              </a:spcBef>
              <a:buFont typeface="Arial" panose="020B0604020202020204" pitchFamily="34" charset="0"/>
              <a:buChar char="•"/>
              <a:tabLst>
                <a:tab pos="527050" algn="l"/>
              </a:tabLst>
            </a:pPr>
            <a:r>
              <a:rPr lang="en-US" sz="2400" b="1" dirty="0"/>
              <a:t>Develop</a:t>
            </a:r>
            <a:r>
              <a:rPr lang="en-US" sz="2400" dirty="0"/>
              <a:t> a Vision Transformer (</a:t>
            </a:r>
            <a:r>
              <a:rPr lang="en-US" sz="2400" dirty="0" err="1"/>
              <a:t>ViT</a:t>
            </a:r>
            <a:r>
              <a:rPr lang="en-US" sz="2400" dirty="0"/>
              <a:t>)-based pest classification model capable of accurately identifying multiple pest species from crop images.</a:t>
            </a:r>
          </a:p>
          <a:p>
            <a:pPr marL="355600" indent="-342900">
              <a:lnSpc>
                <a:spcPct val="100000"/>
              </a:lnSpc>
              <a:spcBef>
                <a:spcPts val="780"/>
              </a:spcBef>
              <a:buFont typeface="Arial" panose="020B0604020202020204" pitchFamily="34" charset="0"/>
              <a:buChar char="•"/>
              <a:tabLst>
                <a:tab pos="527050" algn="l"/>
              </a:tabLst>
            </a:pPr>
            <a:r>
              <a:rPr lang="en-US" sz="2400" b="1" dirty="0"/>
              <a:t>Integrate</a:t>
            </a:r>
            <a:r>
              <a:rPr lang="en-US" sz="2400" dirty="0"/>
              <a:t> a Domain-Aware Summarization layer that links each detected pest to relevant expert knowledge, including descriptions, pesticides, and preventive measures.</a:t>
            </a:r>
          </a:p>
          <a:p>
            <a:pPr marL="355600" indent="-342900">
              <a:lnSpc>
                <a:spcPct val="100000"/>
              </a:lnSpc>
              <a:spcBef>
                <a:spcPts val="780"/>
              </a:spcBef>
              <a:buFont typeface="Arial" panose="020B0604020202020204" pitchFamily="34" charset="0"/>
              <a:buChar char="•"/>
              <a:tabLst>
                <a:tab pos="527050" algn="l"/>
              </a:tabLst>
            </a:pPr>
            <a:r>
              <a:rPr lang="en-US" sz="2400" b="1" dirty="0"/>
              <a:t>Enhance</a:t>
            </a:r>
            <a:r>
              <a:rPr lang="en-US" sz="2400" dirty="0"/>
              <a:t> model performance through advanced preprocessing and augmentation techniques to improve robustness under diverse field conditions.</a:t>
            </a:r>
          </a:p>
          <a:p>
            <a:pPr marL="355600" indent="-342900">
              <a:lnSpc>
                <a:spcPct val="100000"/>
              </a:lnSpc>
              <a:spcBef>
                <a:spcPts val="780"/>
              </a:spcBef>
              <a:buFont typeface="Arial" panose="020B0604020202020204" pitchFamily="34" charset="0"/>
              <a:buChar char="•"/>
              <a:tabLst>
                <a:tab pos="527050" algn="l"/>
              </a:tabLst>
            </a:pPr>
            <a:r>
              <a:rPr lang="en-US" sz="2400" b="1" dirty="0"/>
              <a:t>Implement</a:t>
            </a:r>
            <a:r>
              <a:rPr lang="en-US" sz="2400" dirty="0"/>
              <a:t> an end-to-end intelligent framework that supports real-time pest detection, classification, and recommendation for precision agriculture applications</a:t>
            </a:r>
            <a:r>
              <a:rPr lang="en-US" sz="2400" spc="-10" dirty="0">
                <a:latin typeface="Times New Roman"/>
                <a:cs typeface="Times New Roman"/>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99720" rIns="0" bIns="0" rtlCol="0">
            <a:spAutoFit/>
          </a:bodyPr>
          <a:lstStyle/>
          <a:p>
            <a:pPr marL="360045">
              <a:lnSpc>
                <a:spcPct val="100000"/>
              </a:lnSpc>
              <a:spcBef>
                <a:spcPts val="130"/>
              </a:spcBef>
            </a:pPr>
            <a:r>
              <a:rPr sz="3950" dirty="0"/>
              <a:t>BLOCK</a:t>
            </a:r>
            <a:r>
              <a:rPr sz="3950" spc="60" dirty="0"/>
              <a:t> </a:t>
            </a:r>
            <a:r>
              <a:rPr sz="3950" dirty="0"/>
              <a:t>DIAGRAM</a:t>
            </a:r>
            <a:r>
              <a:rPr sz="3950" spc="90" dirty="0"/>
              <a:t> </a:t>
            </a:r>
            <a:r>
              <a:rPr sz="3950" dirty="0"/>
              <a:t>OR</a:t>
            </a:r>
            <a:r>
              <a:rPr sz="3950" spc="70" dirty="0"/>
              <a:t> </a:t>
            </a:r>
            <a:r>
              <a:rPr sz="3950" dirty="0"/>
              <a:t>FLOW</a:t>
            </a:r>
            <a:r>
              <a:rPr sz="3950" spc="-60" dirty="0"/>
              <a:t> </a:t>
            </a:r>
            <a:r>
              <a:rPr sz="3950" spc="-10" dirty="0"/>
              <a:t>DIAGRAM</a:t>
            </a:r>
            <a:endParaRPr sz="3950"/>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15</a:t>
            </a:fld>
            <a:endParaRPr spc="-25" dirty="0"/>
          </a:p>
        </p:txBody>
      </p:sp>
      <p:pic>
        <p:nvPicPr>
          <p:cNvPr id="3" name="Picture 2">
            <a:extLst>
              <a:ext uri="{FF2B5EF4-FFF2-40B4-BE49-F238E27FC236}">
                <a16:creationId xmlns:a16="http://schemas.microsoft.com/office/drawing/2014/main" id="{72D60507-CA78-22AF-F6F7-0F172471340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474644"/>
            <a:ext cx="5609793" cy="4204136"/>
          </a:xfrm>
          <a:prstGeom prst="rect">
            <a:avLst/>
          </a:prstGeom>
          <a:noFill/>
        </p:spPr>
      </p:pic>
      <p:pic>
        <p:nvPicPr>
          <p:cNvPr id="10" name="Picture 9">
            <a:extLst>
              <a:ext uri="{FF2B5EF4-FFF2-40B4-BE49-F238E27FC236}">
                <a16:creationId xmlns:a16="http://schemas.microsoft.com/office/drawing/2014/main" id="{B8A1B986-FCAC-A45E-2683-9EEFA68202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800" y="1377287"/>
            <a:ext cx="5049405" cy="440767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910205">
              <a:lnSpc>
                <a:spcPct val="100000"/>
              </a:lnSpc>
              <a:spcBef>
                <a:spcPts val="130"/>
              </a:spcBef>
            </a:pPr>
            <a:r>
              <a:rPr spc="-10" dirty="0"/>
              <a:t>METHODOLOGY</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16</a:t>
            </a:fld>
            <a:endParaRPr spc="-25" dirty="0"/>
          </a:p>
        </p:txBody>
      </p:sp>
      <p:sp>
        <p:nvSpPr>
          <p:cNvPr id="3" name="object 3"/>
          <p:cNvSpPr txBox="1"/>
          <p:nvPr/>
        </p:nvSpPr>
        <p:spPr>
          <a:xfrm>
            <a:off x="457200" y="1295400"/>
            <a:ext cx="11035665" cy="4717895"/>
          </a:xfrm>
          <a:prstGeom prst="rect">
            <a:avLst/>
          </a:prstGeom>
        </p:spPr>
        <p:txBody>
          <a:bodyPr vert="horz" wrap="square" lIns="0" tIns="60960" rIns="0" bIns="0" rtlCol="0">
            <a:spAutoFit/>
          </a:bodyPr>
          <a:lstStyle/>
          <a:p>
            <a:pPr marL="241300" marR="290195" indent="-229235">
              <a:lnSpc>
                <a:spcPts val="3000"/>
              </a:lnSpc>
              <a:spcBef>
                <a:spcPts val="480"/>
              </a:spcBef>
              <a:buFont typeface="Arial MT"/>
              <a:buChar char="•"/>
              <a:tabLst>
                <a:tab pos="241300" algn="l"/>
              </a:tabLst>
            </a:pPr>
            <a:r>
              <a:rPr lang="en-US" sz="2400" dirty="0"/>
              <a:t>Input (Pest Images):</a:t>
            </a:r>
          </a:p>
          <a:p>
            <a:pPr marL="12065" marR="290195">
              <a:lnSpc>
                <a:spcPts val="3000"/>
              </a:lnSpc>
              <a:spcBef>
                <a:spcPts val="480"/>
              </a:spcBef>
              <a:tabLst>
                <a:tab pos="241300" algn="l"/>
              </a:tabLst>
            </a:pPr>
            <a:r>
              <a:rPr lang="en-US" sz="2400" dirty="0"/>
              <a:t>	Collects raw pest images from agricultural datasets like IP102 for analysis.</a:t>
            </a:r>
          </a:p>
          <a:p>
            <a:pPr marL="241300" marR="290195" indent="-229235">
              <a:lnSpc>
                <a:spcPts val="3000"/>
              </a:lnSpc>
              <a:spcBef>
                <a:spcPts val="480"/>
              </a:spcBef>
              <a:buFont typeface="Arial MT"/>
              <a:buChar char="•"/>
              <a:tabLst>
                <a:tab pos="241300" algn="l"/>
              </a:tabLst>
            </a:pPr>
            <a:r>
              <a:rPr lang="en-US" sz="2400" dirty="0"/>
              <a:t>Preprocessing:</a:t>
            </a:r>
          </a:p>
          <a:p>
            <a:pPr marL="12065" marR="290195">
              <a:lnSpc>
                <a:spcPts val="3000"/>
              </a:lnSpc>
              <a:spcBef>
                <a:spcPts val="480"/>
              </a:spcBef>
              <a:tabLst>
                <a:tab pos="241300" algn="l"/>
              </a:tabLst>
            </a:pPr>
            <a:r>
              <a:rPr lang="en-US" sz="2400" dirty="0"/>
              <a:t>	Cleans, labels, and augments images to enhance quality and model readiness.</a:t>
            </a:r>
          </a:p>
          <a:p>
            <a:pPr marL="241300" marR="290195" indent="-229235">
              <a:lnSpc>
                <a:spcPts val="3000"/>
              </a:lnSpc>
              <a:spcBef>
                <a:spcPts val="480"/>
              </a:spcBef>
              <a:buFont typeface="Arial MT"/>
              <a:buChar char="•"/>
              <a:tabLst>
                <a:tab pos="241300" algn="l"/>
              </a:tabLst>
            </a:pPr>
            <a:r>
              <a:rPr lang="en-US" sz="2400" dirty="0"/>
              <a:t>Data Loading:</a:t>
            </a:r>
          </a:p>
          <a:p>
            <a:pPr marL="12065" marR="290195">
              <a:lnSpc>
                <a:spcPts val="3000"/>
              </a:lnSpc>
              <a:spcBef>
                <a:spcPts val="480"/>
              </a:spcBef>
              <a:tabLst>
                <a:tab pos="241300" algn="l"/>
              </a:tabLst>
            </a:pPr>
            <a:r>
              <a:rPr lang="en-US" sz="2400" dirty="0"/>
              <a:t>	Organizes images into batches using </a:t>
            </a:r>
            <a:r>
              <a:rPr lang="en-US" sz="2400" dirty="0" err="1"/>
              <a:t>pestDataset</a:t>
            </a:r>
            <a:r>
              <a:rPr lang="en-US" sz="2400" dirty="0"/>
              <a:t>(), </a:t>
            </a:r>
            <a:r>
              <a:rPr lang="en-US" sz="2400" dirty="0" err="1"/>
              <a:t>DataLoader</a:t>
            </a:r>
            <a:r>
              <a:rPr lang="en-US" sz="2400" dirty="0"/>
              <a:t>, and </a:t>
            </a:r>
            <a:r>
              <a:rPr lang="en-US" sz="2400" dirty="0" err="1"/>
              <a:t>Collate_fn</a:t>
            </a:r>
            <a:r>
              <a:rPr lang="en-US" sz="2400" dirty="0"/>
              <a:t>() for efficient training.</a:t>
            </a:r>
          </a:p>
          <a:p>
            <a:pPr marL="241300" marR="290195" indent="-229235">
              <a:lnSpc>
                <a:spcPts val="3000"/>
              </a:lnSpc>
              <a:spcBef>
                <a:spcPts val="480"/>
              </a:spcBef>
              <a:buFont typeface="Arial MT"/>
              <a:buChar char="•"/>
              <a:tabLst>
                <a:tab pos="241300" algn="l"/>
              </a:tabLst>
            </a:pPr>
            <a:r>
              <a:rPr lang="en-US" sz="2400" dirty="0" err="1"/>
              <a:t>ViT</a:t>
            </a:r>
            <a:r>
              <a:rPr lang="en-US" sz="2400" dirty="0"/>
              <a:t> Model Training &amp; Evaluation:</a:t>
            </a:r>
          </a:p>
          <a:p>
            <a:pPr marL="12065" marR="290195">
              <a:lnSpc>
                <a:spcPts val="3000"/>
              </a:lnSpc>
              <a:spcBef>
                <a:spcPts val="480"/>
              </a:spcBef>
              <a:tabLst>
                <a:tab pos="241300" algn="l"/>
              </a:tabLst>
            </a:pPr>
            <a:r>
              <a:rPr lang="en-US" sz="2400" dirty="0"/>
              <a:t>	Utilizes Vision Transformer to extract deep visual features and classify pest species accurately.</a:t>
            </a:r>
            <a:endParaRPr lang="en-US" sz="2400" dirty="0">
              <a:latin typeface="Times New Roman"/>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9217E-3421-0F70-F51A-00B6C9FA9DC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676F51B-AB98-BF88-E12D-4A7725FD8558}"/>
              </a:ext>
            </a:extLst>
          </p:cNvPr>
          <p:cNvSpPr txBox="1">
            <a:spLocks noGrp="1"/>
          </p:cNvSpPr>
          <p:nvPr>
            <p:ph type="title"/>
          </p:nvPr>
        </p:nvSpPr>
        <p:spPr>
          <a:prstGeom prst="rect">
            <a:avLst/>
          </a:prstGeom>
        </p:spPr>
        <p:txBody>
          <a:bodyPr vert="horz" wrap="square" lIns="0" tIns="262889" rIns="0" bIns="0" rtlCol="0">
            <a:spAutoFit/>
          </a:bodyPr>
          <a:lstStyle/>
          <a:p>
            <a:pPr marL="2910205">
              <a:lnSpc>
                <a:spcPct val="100000"/>
              </a:lnSpc>
              <a:spcBef>
                <a:spcPts val="130"/>
              </a:spcBef>
            </a:pPr>
            <a:r>
              <a:rPr spc="-10" dirty="0"/>
              <a:t>METHODOLOGY</a:t>
            </a:r>
          </a:p>
        </p:txBody>
      </p:sp>
      <p:sp>
        <p:nvSpPr>
          <p:cNvPr id="4" name="object 4">
            <a:extLst>
              <a:ext uri="{FF2B5EF4-FFF2-40B4-BE49-F238E27FC236}">
                <a16:creationId xmlns:a16="http://schemas.microsoft.com/office/drawing/2014/main" id="{8A847475-67C0-B40E-F845-2502D58931B9}"/>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a:extLst>
              <a:ext uri="{FF2B5EF4-FFF2-40B4-BE49-F238E27FC236}">
                <a16:creationId xmlns:a16="http://schemas.microsoft.com/office/drawing/2014/main" id="{2C1EED8F-1A54-D8B7-2862-7C4AC6C03872}"/>
              </a:ext>
            </a:extLst>
          </p:cNvPr>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a:extLst>
              <a:ext uri="{FF2B5EF4-FFF2-40B4-BE49-F238E27FC236}">
                <a16:creationId xmlns:a16="http://schemas.microsoft.com/office/drawing/2014/main" id="{7471E7B2-ED6D-D8AE-B4FD-00CDF3DA75E6}"/>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a:extLst>
              <a:ext uri="{FF2B5EF4-FFF2-40B4-BE49-F238E27FC236}">
                <a16:creationId xmlns:a16="http://schemas.microsoft.com/office/drawing/2014/main" id="{B834D1C6-E4AD-8E8C-50F8-FFD850B2BF4A}"/>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67D7C28D-4308-9E7B-9CA4-99D052680CA5}"/>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17</a:t>
            </a:fld>
            <a:endParaRPr spc="-25" dirty="0"/>
          </a:p>
        </p:txBody>
      </p:sp>
      <p:sp>
        <p:nvSpPr>
          <p:cNvPr id="3" name="object 3">
            <a:extLst>
              <a:ext uri="{FF2B5EF4-FFF2-40B4-BE49-F238E27FC236}">
                <a16:creationId xmlns:a16="http://schemas.microsoft.com/office/drawing/2014/main" id="{704CFA85-1775-4347-2C05-EEFD3BCD44E3}"/>
              </a:ext>
            </a:extLst>
          </p:cNvPr>
          <p:cNvSpPr txBox="1"/>
          <p:nvPr/>
        </p:nvSpPr>
        <p:spPr>
          <a:xfrm>
            <a:off x="533400" y="1143000"/>
            <a:ext cx="10959465" cy="6152697"/>
          </a:xfrm>
          <a:prstGeom prst="rect">
            <a:avLst/>
          </a:prstGeom>
        </p:spPr>
        <p:txBody>
          <a:bodyPr vert="horz" wrap="square" lIns="0" tIns="60960" rIns="0" bIns="0" rtlCol="0">
            <a:spAutoFit/>
          </a:bodyPr>
          <a:lstStyle/>
          <a:p>
            <a:pPr marL="241300" marR="290195" indent="-229235" algn="just">
              <a:lnSpc>
                <a:spcPts val="3000"/>
              </a:lnSpc>
              <a:spcBef>
                <a:spcPts val="480"/>
              </a:spcBef>
              <a:buFont typeface="Arial MT"/>
              <a:buChar char="•"/>
              <a:tabLst>
                <a:tab pos="241300" algn="l"/>
              </a:tabLst>
            </a:pPr>
            <a:r>
              <a:rPr lang="en-US" sz="2400" dirty="0"/>
              <a:t>Knowledge Base Lookup:</a:t>
            </a:r>
          </a:p>
          <a:p>
            <a:pPr marL="12065" marR="290195" algn="just">
              <a:lnSpc>
                <a:spcPts val="3000"/>
              </a:lnSpc>
              <a:spcBef>
                <a:spcPts val="480"/>
              </a:spcBef>
              <a:tabLst>
                <a:tab pos="241300" algn="l"/>
              </a:tabLst>
            </a:pPr>
            <a:r>
              <a:rPr lang="en-US" sz="2400" dirty="0"/>
              <a:t>	Fetches detailed pest information from the domain-specific JSON knowledge repository.</a:t>
            </a:r>
          </a:p>
          <a:p>
            <a:pPr marL="241300" marR="290195" indent="-229235" algn="just">
              <a:lnSpc>
                <a:spcPts val="3000"/>
              </a:lnSpc>
              <a:spcBef>
                <a:spcPts val="480"/>
              </a:spcBef>
              <a:buFont typeface="Arial MT"/>
              <a:buChar char="•"/>
              <a:tabLst>
                <a:tab pos="241300" algn="l"/>
              </a:tabLst>
            </a:pPr>
            <a:r>
              <a:rPr lang="fr-FR" sz="2400" dirty="0" err="1"/>
              <a:t>Context</a:t>
            </a:r>
            <a:r>
              <a:rPr lang="fr-FR" sz="2400" dirty="0"/>
              <a:t> Adaptation (</a:t>
            </a:r>
            <a:r>
              <a:rPr lang="fr-FR" sz="2400" dirty="0" err="1"/>
              <a:t>Crop</a:t>
            </a:r>
            <a:r>
              <a:rPr lang="fr-FR" sz="2400" dirty="0"/>
              <a:t> Stage, </a:t>
            </a:r>
            <a:r>
              <a:rPr lang="fr-FR" sz="2400" dirty="0" err="1"/>
              <a:t>Environment</a:t>
            </a:r>
            <a:r>
              <a:rPr lang="fr-FR" sz="2400" dirty="0"/>
              <a:t>):</a:t>
            </a:r>
          </a:p>
          <a:p>
            <a:pPr marL="12065" marR="290195" algn="just">
              <a:lnSpc>
                <a:spcPts val="3000"/>
              </a:lnSpc>
              <a:spcBef>
                <a:spcPts val="480"/>
              </a:spcBef>
              <a:tabLst>
                <a:tab pos="241300" algn="l"/>
              </a:tabLst>
            </a:pPr>
            <a:r>
              <a:rPr lang="en-US" sz="2400" dirty="0"/>
              <a:t>	Adjusts recommendations based on the crop’s growth stage and environmental factors.</a:t>
            </a:r>
          </a:p>
          <a:p>
            <a:pPr marL="241300" marR="290195" indent="-229235" algn="just">
              <a:lnSpc>
                <a:spcPts val="3000"/>
              </a:lnSpc>
              <a:spcBef>
                <a:spcPts val="480"/>
              </a:spcBef>
              <a:buFont typeface="Arial MT"/>
              <a:buChar char="•"/>
              <a:tabLst>
                <a:tab pos="241300" algn="l"/>
              </a:tabLst>
            </a:pPr>
            <a:r>
              <a:rPr lang="en-US" sz="2400" dirty="0"/>
              <a:t>Severity Level Analysis:</a:t>
            </a:r>
          </a:p>
          <a:p>
            <a:pPr marL="12065" marR="290195" algn="just">
              <a:lnSpc>
                <a:spcPts val="3000"/>
              </a:lnSpc>
              <a:spcBef>
                <a:spcPts val="480"/>
              </a:spcBef>
              <a:tabLst>
                <a:tab pos="241300" algn="l"/>
              </a:tabLst>
            </a:pPr>
            <a:r>
              <a:rPr lang="en-US" sz="2400" dirty="0"/>
              <a:t>	Determines the pest damage level as </a:t>
            </a:r>
            <a:r>
              <a:rPr lang="en-US" sz="2400" i="1" dirty="0"/>
              <a:t>low/moderate</a:t>
            </a:r>
            <a:r>
              <a:rPr lang="en-US" sz="2400" dirty="0"/>
              <a:t> or </a:t>
            </a:r>
            <a:r>
              <a:rPr lang="en-US" sz="2400" i="1" dirty="0"/>
              <a:t>severe</a:t>
            </a:r>
            <a:r>
              <a:rPr lang="en-US" sz="2400" dirty="0"/>
              <a:t> to guide actions.</a:t>
            </a:r>
          </a:p>
          <a:p>
            <a:pPr marL="241300" marR="290195" indent="-229235" algn="just">
              <a:lnSpc>
                <a:spcPts val="3000"/>
              </a:lnSpc>
              <a:spcBef>
                <a:spcPts val="480"/>
              </a:spcBef>
              <a:buFont typeface="Arial MT"/>
              <a:buChar char="•"/>
              <a:tabLst>
                <a:tab pos="241300" algn="l"/>
              </a:tabLst>
            </a:pPr>
            <a:r>
              <a:rPr lang="en-US" sz="2400" dirty="0"/>
              <a:t>Preventive / Chemical Control:</a:t>
            </a:r>
          </a:p>
          <a:p>
            <a:pPr marL="12065" marR="290195" algn="just">
              <a:lnSpc>
                <a:spcPts val="3000"/>
              </a:lnSpc>
              <a:spcBef>
                <a:spcPts val="480"/>
              </a:spcBef>
              <a:tabLst>
                <a:tab pos="241300" algn="l"/>
              </a:tabLst>
            </a:pPr>
            <a:r>
              <a:rPr lang="en-US" sz="2400" dirty="0"/>
              <a:t>	Suggests eco-friendly preventive methods or chemical treatments (GAPs) as per severity.</a:t>
            </a:r>
          </a:p>
          <a:p>
            <a:pPr marL="241300" marR="290195" indent="-229235" algn="just">
              <a:lnSpc>
                <a:spcPts val="3000"/>
              </a:lnSpc>
              <a:spcBef>
                <a:spcPts val="480"/>
              </a:spcBef>
              <a:buFont typeface="Arial MT"/>
              <a:buChar char="•"/>
              <a:tabLst>
                <a:tab pos="241300" algn="l"/>
              </a:tabLst>
            </a:pPr>
            <a:r>
              <a:rPr lang="en-US" sz="2400" dirty="0"/>
              <a:t>Farmer-Friendly Summary:</a:t>
            </a:r>
          </a:p>
          <a:p>
            <a:pPr marL="12065" marR="290195" algn="just">
              <a:lnSpc>
                <a:spcPts val="3000"/>
              </a:lnSpc>
              <a:spcBef>
                <a:spcPts val="480"/>
              </a:spcBef>
              <a:tabLst>
                <a:tab pos="241300" algn="l"/>
              </a:tabLst>
            </a:pPr>
            <a:r>
              <a:rPr lang="en-US" sz="2400" dirty="0"/>
              <a:t>.</a:t>
            </a:r>
            <a:endParaRPr sz="2400" dirty="0">
              <a:latin typeface="Times New Roman"/>
              <a:cs typeface="Times New Roman"/>
            </a:endParaRPr>
          </a:p>
        </p:txBody>
      </p:sp>
    </p:spTree>
    <p:extLst>
      <p:ext uri="{BB962C8B-B14F-4D97-AF65-F5344CB8AC3E}">
        <p14:creationId xmlns:p14="http://schemas.microsoft.com/office/powerpoint/2010/main" val="3567376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3A6C2D-16ED-586E-14AA-D8F9960DB578}"/>
              </a:ext>
            </a:extLst>
          </p:cNvPr>
          <p:cNvSpPr txBox="1"/>
          <p:nvPr/>
        </p:nvSpPr>
        <p:spPr>
          <a:xfrm>
            <a:off x="4495800" y="838200"/>
            <a:ext cx="6097656" cy="461665"/>
          </a:xfrm>
          <a:prstGeom prst="rect">
            <a:avLst/>
          </a:prstGeom>
          <a:noFill/>
        </p:spPr>
        <p:txBody>
          <a:bodyPr wrap="square">
            <a:spAutoFit/>
          </a:bodyPr>
          <a:lstStyle/>
          <a:p>
            <a:r>
              <a:rPr lang="en-US" sz="2400" b="1" spc="-10" dirty="0">
                <a:latin typeface="Times New Roman" panose="02020603050405020304" pitchFamily="18" charset="0"/>
                <a:cs typeface="Times New Roman" panose="02020603050405020304" pitchFamily="18" charset="0"/>
              </a:rPr>
              <a:t>MODEL ARCHITECTURE</a:t>
            </a:r>
            <a:endParaRPr lang="en-US" sz="24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F5EE44C-0C7C-F7AC-D325-2652D2EEE89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57010" y="3890089"/>
            <a:ext cx="5634990" cy="3169285"/>
          </a:xfrm>
          <a:prstGeom prst="rect">
            <a:avLst/>
          </a:prstGeom>
          <a:noFill/>
        </p:spPr>
      </p:pic>
      <p:sp>
        <p:nvSpPr>
          <p:cNvPr id="8" name="TextBox 7">
            <a:extLst>
              <a:ext uri="{FF2B5EF4-FFF2-40B4-BE49-F238E27FC236}">
                <a16:creationId xmlns:a16="http://schemas.microsoft.com/office/drawing/2014/main" id="{5073B8E9-B54C-96B7-0D23-AB8F058C96AA}"/>
              </a:ext>
            </a:extLst>
          </p:cNvPr>
          <p:cNvSpPr txBox="1"/>
          <p:nvPr/>
        </p:nvSpPr>
        <p:spPr>
          <a:xfrm>
            <a:off x="685800" y="1383268"/>
            <a:ext cx="6097656"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Vision Transformer Workflow</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7722FE2-B3D9-B53A-FEDE-0CA2298F5D19}"/>
                  </a:ext>
                </a:extLst>
              </p:cNvPr>
              <p:cNvSpPr txBox="1"/>
              <p:nvPr/>
            </p:nvSpPr>
            <p:spPr>
              <a:xfrm>
                <a:off x="685800" y="1836003"/>
                <a:ext cx="11658600" cy="3781100"/>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Input image </a:t>
                </a:r>
                <a14:m>
                  <m:oMath xmlns:m="http://schemas.openxmlformats.org/officeDocument/2006/math">
                    <m:r>
                      <a:rPr lang="en-US" sz="2400" b="0" i="1">
                        <a:latin typeface="Cambria Math" panose="02040503050406030204" pitchFamily="18" charset="0"/>
                      </a:rPr>
                      <m:t>𝑥</m:t>
                    </m:r>
                    <m:r>
                      <a:rPr lang="en-US" sz="2400" b="0">
                        <a:latin typeface="Cambria Math" panose="02040503050406030204" pitchFamily="18" charset="0"/>
                      </a:rPr>
                      <m:t>∈</m:t>
                    </m:r>
                    <m:sSup>
                      <m:sSupPr>
                        <m:ctrlPr>
                          <a:rPr lang="ar-AE" sz="2400" i="1">
                            <a:latin typeface="Cambria Math" panose="02040503050406030204" pitchFamily="18" charset="0"/>
                          </a:rPr>
                        </m:ctrlPr>
                      </m:sSupPr>
                      <m:e>
                        <m:r>
                          <a:rPr lang="ar-AE" sz="2400" b="0">
                            <a:latin typeface="Cambria Math" panose="02040503050406030204" pitchFamily="18" charset="0"/>
                          </a:rPr>
                          <m:t>ℝ</m:t>
                        </m:r>
                      </m:e>
                      <m:sup>
                        <m:r>
                          <a:rPr lang="ar-AE" sz="2400" b="0" i="1">
                            <a:latin typeface="Cambria Math" panose="02040503050406030204" pitchFamily="18" charset="0"/>
                          </a:rPr>
                          <m:t>𝐻</m:t>
                        </m:r>
                        <m:r>
                          <a:rPr lang="ar-AE" sz="2400" b="0">
                            <a:latin typeface="Cambria Math" panose="02040503050406030204" pitchFamily="18" charset="0"/>
                          </a:rPr>
                          <m:t>×</m:t>
                        </m:r>
                        <m:r>
                          <a:rPr lang="ar-AE" sz="2400" b="0" i="1">
                            <a:latin typeface="Cambria Math" panose="02040503050406030204" pitchFamily="18" charset="0"/>
                          </a:rPr>
                          <m:t>𝑊</m:t>
                        </m:r>
                        <m:r>
                          <a:rPr lang="ar-AE" sz="2400" b="0">
                            <a:latin typeface="Cambria Math" panose="02040503050406030204" pitchFamily="18" charset="0"/>
                          </a:rPr>
                          <m:t>×</m:t>
                        </m:r>
                        <m:r>
                          <a:rPr lang="ar-AE" sz="2400" b="0" i="1">
                            <a:latin typeface="Cambria Math" panose="02040503050406030204" pitchFamily="18" charset="0"/>
                          </a:rPr>
                          <m:t>𝐶</m:t>
                        </m:r>
                      </m:sup>
                    </m:sSup>
                  </m:oMath>
                </a14:m>
                <a:r>
                  <a:rPr lang="en-US" sz="2400" dirty="0">
                    <a:latin typeface="Times New Roman" panose="02020603050405020304" pitchFamily="18" charset="0"/>
                    <a:cs typeface="Times New Roman" panose="02020603050405020304" pitchFamily="18" charset="0"/>
                  </a:rPr>
                  <a:t>is split into N non-overlapping patches of size </a:t>
                </a:r>
                <a14:m>
                  <m:oMath xmlns:m="http://schemas.openxmlformats.org/officeDocument/2006/math">
                    <m:r>
                      <a:rPr lang="en-US" sz="2400" b="0" i="1">
                        <a:latin typeface="Cambria Math" panose="02040503050406030204" pitchFamily="18" charset="0"/>
                      </a:rPr>
                      <m:t>𝑃</m:t>
                    </m:r>
                    <m:r>
                      <a:rPr lang="en-US" sz="2400" b="0">
                        <a:latin typeface="Cambria Math" panose="02040503050406030204" pitchFamily="18" charset="0"/>
                      </a:rPr>
                      <m:t>×</m:t>
                    </m:r>
                    <m:r>
                      <a:rPr lang="en-US" sz="2400" b="0" i="1">
                        <a:latin typeface="Cambria Math" panose="02040503050406030204" pitchFamily="18" charset="0"/>
                      </a:rPr>
                      <m:t>𝑃</m:t>
                    </m:r>
                  </m:oMath>
                </a14:m>
                <a:r>
                  <a:rPr lang="en-US" sz="24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patch is flattened and linearly projected into an embedding vector.</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[CLS] token is added to represent the whole image.</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Positional embeddings (</a:t>
                </a:r>
                <a14:m>
                  <m:oMath xmlns:m="http://schemas.openxmlformats.org/officeDocument/2006/math">
                    <m:sSub>
                      <m:sSubPr>
                        <m:ctrlPr>
                          <a:rPr lang="ar-AE" sz="2400" i="1">
                            <a:latin typeface="Cambria Math" panose="02040503050406030204" pitchFamily="18" charset="0"/>
                          </a:rPr>
                        </m:ctrlPr>
                      </m:sSubPr>
                      <m:e>
                        <m:r>
                          <a:rPr lang="ar-AE" sz="2400" b="0" i="1">
                            <a:latin typeface="Cambria Math" panose="02040503050406030204" pitchFamily="18" charset="0"/>
                          </a:rPr>
                          <m:t>𝐸</m:t>
                        </m:r>
                      </m:e>
                      <m:sub>
                        <m:r>
                          <a:rPr lang="ar-AE" sz="2400" b="0" i="1">
                            <a:latin typeface="Cambria Math" panose="02040503050406030204" pitchFamily="18" charset="0"/>
                          </a:rPr>
                          <m:t>𝑝𝑜𝑠</m:t>
                        </m:r>
                      </m:sub>
                    </m:sSub>
                  </m:oMath>
                </a14:m>
                <a:r>
                  <a:rPr lang="ar-AE"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are added to retain spatial information.</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sequence of embeddings is passed through L Transformer encoder blocks.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encoder uses Multi-Head Self-Attention (MHSA):</a:t>
                </a:r>
              </a:p>
              <a:p>
                <a:pPr/>
                <a14:m>
                  <m:oMathPara xmlns:m="http://schemas.openxmlformats.org/officeDocument/2006/math">
                    <m:oMathParaPr>
                      <m:jc m:val="left"/>
                    </m:oMathParaPr>
                    <m:oMath xmlns:m="http://schemas.openxmlformats.org/officeDocument/2006/math">
                      <m:r>
                        <m:rPr>
                          <m:nor/>
                        </m:rPr>
                        <a:rPr lang="en-US" sz="2400">
                          <a:latin typeface="Times New Roman" panose="02020603050405020304" pitchFamily="18" charset="0"/>
                          <a:cs typeface="Times New Roman" panose="02020603050405020304" pitchFamily="18" charset="0"/>
                        </a:rPr>
                        <m:t>Attention</m:t>
                      </m:r>
                      <m:d>
                        <m:dPr>
                          <m:sepChr m:val=","/>
                          <m:ctrlPr>
                            <a:rPr lang="ar-AE" sz="2400" i="1">
                              <a:latin typeface="Cambria Math" panose="02040503050406030204" pitchFamily="18" charset="0"/>
                            </a:rPr>
                          </m:ctrlPr>
                        </m:dPr>
                        <m:e>
                          <m:r>
                            <a:rPr lang="ar-AE" sz="2400" b="0" i="1">
                              <a:latin typeface="Cambria Math" panose="02040503050406030204" pitchFamily="18" charset="0"/>
                            </a:rPr>
                            <m:t>𝑄</m:t>
                          </m:r>
                        </m:e>
                        <m:e>
                          <m:r>
                            <a:rPr lang="ar-AE" sz="2400" b="0" i="1">
                              <a:latin typeface="Cambria Math" panose="02040503050406030204" pitchFamily="18" charset="0"/>
                            </a:rPr>
                            <m:t>𝐾</m:t>
                          </m:r>
                        </m:e>
                        <m:e>
                          <m:r>
                            <a:rPr lang="ar-AE" sz="2400" b="0" i="1">
                              <a:latin typeface="Cambria Math" panose="02040503050406030204" pitchFamily="18" charset="0"/>
                            </a:rPr>
                            <m:t>𝑉</m:t>
                          </m:r>
                        </m:e>
                      </m:d>
                      <m:r>
                        <a:rPr lang="ar-AE" sz="2400" b="0">
                          <a:latin typeface="Cambria Math" panose="02040503050406030204" pitchFamily="18" charset="0"/>
                        </a:rPr>
                        <m:t>=</m:t>
                      </m:r>
                      <m:r>
                        <m:rPr>
                          <m:nor/>
                        </m:rPr>
                        <a:rPr lang="en-US" sz="2400" i="1">
                          <a:latin typeface="Times New Roman" panose="02020603050405020304" pitchFamily="18" charset="0"/>
                          <a:cs typeface="Times New Roman" panose="02020603050405020304" pitchFamily="18" charset="0"/>
                        </a:rPr>
                        <m:t>softmax</m:t>
                      </m:r>
                      <m:d>
                        <m:dPr>
                          <m:ctrlPr>
                            <a:rPr lang="ar-AE" sz="2400" i="1">
                              <a:latin typeface="Cambria Math" panose="02040503050406030204" pitchFamily="18" charset="0"/>
                            </a:rPr>
                          </m:ctrlPr>
                        </m:dPr>
                        <m:e>
                          <m:f>
                            <m:fPr>
                              <m:ctrlPr>
                                <a:rPr lang="ar-AE" sz="2400" i="1">
                                  <a:latin typeface="Cambria Math" panose="02040503050406030204" pitchFamily="18" charset="0"/>
                                </a:rPr>
                              </m:ctrlPr>
                            </m:fPr>
                            <m:num>
                              <m:r>
                                <a:rPr lang="ar-AE" sz="2400" b="0" i="1">
                                  <a:latin typeface="Cambria Math" panose="02040503050406030204" pitchFamily="18" charset="0"/>
                                </a:rPr>
                                <m:t>𝑄</m:t>
                              </m:r>
                              <m:sSup>
                                <m:sSupPr>
                                  <m:ctrlPr>
                                    <a:rPr lang="ar-AE" sz="2400" i="1">
                                      <a:latin typeface="Cambria Math" panose="02040503050406030204" pitchFamily="18" charset="0"/>
                                    </a:rPr>
                                  </m:ctrlPr>
                                </m:sSupPr>
                                <m:e>
                                  <m:r>
                                    <a:rPr lang="ar-AE" sz="2400" b="0" i="1">
                                      <a:latin typeface="Cambria Math" panose="02040503050406030204" pitchFamily="18" charset="0"/>
                                    </a:rPr>
                                    <m:t>𝐾</m:t>
                                  </m:r>
                                </m:e>
                                <m:sup>
                                  <m:r>
                                    <a:rPr lang="ar-AE" sz="2400" b="0" i="1">
                                      <a:latin typeface="Cambria Math" panose="02040503050406030204" pitchFamily="18" charset="0"/>
                                    </a:rPr>
                                    <m:t>𝑇</m:t>
                                  </m:r>
                                </m:sup>
                              </m:sSup>
                            </m:num>
                            <m:den>
                              <m:rad>
                                <m:radPr>
                                  <m:degHide m:val="on"/>
                                  <m:ctrlPr>
                                    <a:rPr lang="ar-AE" sz="2400" i="1">
                                      <a:latin typeface="Cambria Math" panose="02040503050406030204" pitchFamily="18" charset="0"/>
                                    </a:rPr>
                                  </m:ctrlPr>
                                </m:radPr>
                                <m:deg/>
                                <m:e>
                                  <m:sSub>
                                    <m:sSubPr>
                                      <m:ctrlPr>
                                        <a:rPr lang="ar-AE" sz="2400" i="1">
                                          <a:latin typeface="Cambria Math" panose="02040503050406030204" pitchFamily="18" charset="0"/>
                                        </a:rPr>
                                      </m:ctrlPr>
                                    </m:sSubPr>
                                    <m:e>
                                      <m:r>
                                        <a:rPr lang="ar-AE" sz="2400" b="0" i="1">
                                          <a:latin typeface="Cambria Math" panose="02040503050406030204" pitchFamily="18" charset="0"/>
                                        </a:rPr>
                                        <m:t>𝑑</m:t>
                                      </m:r>
                                    </m:e>
                                    <m:sub>
                                      <m:r>
                                        <a:rPr lang="ar-AE" sz="2400" b="0" i="1">
                                          <a:latin typeface="Cambria Math" panose="02040503050406030204" pitchFamily="18" charset="0"/>
                                        </a:rPr>
                                        <m:t>𝑘</m:t>
                                      </m:r>
                                    </m:sub>
                                  </m:sSub>
                                </m:e>
                              </m:rad>
                            </m:den>
                          </m:f>
                        </m:e>
                      </m:d>
                      <m:r>
                        <a:rPr lang="ar-AE" sz="2400" b="0" i="1">
                          <a:latin typeface="Cambria Math" panose="02040503050406030204" pitchFamily="18" charset="0"/>
                        </a:rPr>
                        <m:t>𝑉</m:t>
                      </m:r>
                    </m:oMath>
                  </m:oMathPara>
                </a14:m>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Output: Predicted pest class</a:t>
                </a:r>
              </a:p>
            </p:txBody>
          </p:sp>
        </mc:Choice>
        <mc:Fallback xmlns="">
          <p:sp>
            <p:nvSpPr>
              <p:cNvPr id="10" name="TextBox 9">
                <a:extLst>
                  <a:ext uri="{FF2B5EF4-FFF2-40B4-BE49-F238E27FC236}">
                    <a16:creationId xmlns:a16="http://schemas.microsoft.com/office/drawing/2014/main" id="{57722FE2-B3D9-B53A-FEDE-0CA2298F5D19}"/>
                  </a:ext>
                </a:extLst>
              </p:cNvPr>
              <p:cNvSpPr txBox="1">
                <a:spLocks noRot="1" noChangeAspect="1" noMove="1" noResize="1" noEditPoints="1" noAdjustHandles="1" noChangeArrowheads="1" noChangeShapeType="1" noTextEdit="1"/>
              </p:cNvSpPr>
              <p:nvPr/>
            </p:nvSpPr>
            <p:spPr>
              <a:xfrm>
                <a:off x="685800" y="1836003"/>
                <a:ext cx="11658600" cy="3781100"/>
              </a:xfrm>
              <a:prstGeom prst="rect">
                <a:avLst/>
              </a:prstGeom>
              <a:blipFill>
                <a:blip r:embed="rId3"/>
                <a:stretch>
                  <a:fillRect l="-732" b="-2903"/>
                </a:stretch>
              </a:blipFill>
            </p:spPr>
            <p:txBody>
              <a:bodyPr/>
              <a:lstStyle/>
              <a:p>
                <a:r>
                  <a:rPr lang="en-US">
                    <a:noFill/>
                  </a:rPr>
                  <a:t> </a:t>
                </a:r>
              </a:p>
            </p:txBody>
          </p:sp>
        </mc:Fallback>
      </mc:AlternateContent>
    </p:spTree>
    <p:extLst>
      <p:ext uri="{BB962C8B-B14F-4D97-AF65-F5344CB8AC3E}">
        <p14:creationId xmlns:p14="http://schemas.microsoft.com/office/powerpoint/2010/main" val="3904112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4843D-E054-2397-D381-A7A89D180C6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D326392-3138-BCC9-D290-1424B04D51BB}"/>
              </a:ext>
            </a:extLst>
          </p:cNvPr>
          <p:cNvSpPr txBox="1"/>
          <p:nvPr/>
        </p:nvSpPr>
        <p:spPr>
          <a:xfrm>
            <a:off x="4495800" y="838200"/>
            <a:ext cx="6097656" cy="461665"/>
          </a:xfrm>
          <a:prstGeom prst="rect">
            <a:avLst/>
          </a:prstGeom>
          <a:noFill/>
        </p:spPr>
        <p:txBody>
          <a:bodyPr wrap="square">
            <a:spAutoFit/>
          </a:bodyPr>
          <a:lstStyle/>
          <a:p>
            <a:r>
              <a:rPr lang="en-US" sz="2400" b="1" spc="-10" dirty="0">
                <a:latin typeface="Times New Roman" panose="02020603050405020304" pitchFamily="18" charset="0"/>
                <a:cs typeface="Times New Roman" panose="02020603050405020304" pitchFamily="18" charset="0"/>
              </a:rPr>
              <a:t>MODEL ARCHITECTURE</a:t>
            </a:r>
            <a:endParaRPr lang="en-US"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4816841-0C3D-2ADD-E49A-33E2B4D3C9AC}"/>
              </a:ext>
            </a:extLst>
          </p:cNvPr>
          <p:cNvSpPr txBox="1"/>
          <p:nvPr/>
        </p:nvSpPr>
        <p:spPr>
          <a:xfrm>
            <a:off x="685800" y="1383268"/>
            <a:ext cx="6097656"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Domain Aware </a:t>
            </a:r>
            <a:r>
              <a:rPr lang="en-US" sz="2400" b="1" dirty="0" err="1">
                <a:latin typeface="Times New Roman" panose="02020603050405020304" pitchFamily="18" charset="0"/>
                <a:cs typeface="Times New Roman" panose="02020603050405020304" pitchFamily="18" charset="0"/>
              </a:rPr>
              <a:t>Summarisation</a:t>
            </a:r>
            <a:r>
              <a:rPr lang="en-US" sz="2400" b="1" dirty="0">
                <a:latin typeface="Times New Roman" panose="02020603050405020304" pitchFamily="18" charset="0"/>
                <a:cs typeface="Times New Roman" panose="02020603050405020304" pitchFamily="18" charset="0"/>
              </a:rPr>
              <a:t> Workflow</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80EBA3D-9B21-D122-9A1F-ABC7D4BE6298}"/>
                  </a:ext>
                </a:extLst>
              </p:cNvPr>
              <p:cNvSpPr txBox="1"/>
              <p:nvPr/>
            </p:nvSpPr>
            <p:spPr>
              <a:xfrm>
                <a:off x="685800" y="1836003"/>
                <a:ext cx="11049000" cy="3444854"/>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crop image containing a pest is uploaded through the user interface or dataset.</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predicted pest label (e.g., Brown Planthopper) is used as a key to query the JSON knowledge base.</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corresponding pest entry is retrieved, including description, preventive measures, and pesticide information.</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Positional embeddings (</a:t>
                </a:r>
                <a14:m>
                  <m:oMath xmlns:m="http://schemas.openxmlformats.org/officeDocument/2006/math">
                    <m:sSub>
                      <m:sSubPr>
                        <m:ctrlPr>
                          <a:rPr lang="ar-AE" sz="2400" i="1">
                            <a:latin typeface="Cambria Math" panose="02040503050406030204" pitchFamily="18" charset="0"/>
                          </a:rPr>
                        </m:ctrlPr>
                      </m:sSubPr>
                      <m:e>
                        <m:r>
                          <a:rPr lang="ar-AE" sz="2400" b="0" i="1">
                            <a:latin typeface="Cambria Math" panose="02040503050406030204" pitchFamily="18" charset="0"/>
                          </a:rPr>
                          <m:t>𝐸</m:t>
                        </m:r>
                      </m:e>
                      <m:sub>
                        <m:r>
                          <a:rPr lang="ar-AE" sz="2400" b="0" i="1">
                            <a:latin typeface="Cambria Math" panose="02040503050406030204" pitchFamily="18" charset="0"/>
                          </a:rPr>
                          <m:t>𝑝𝑜𝑠</m:t>
                        </m:r>
                      </m:sub>
                    </m:sSub>
                  </m:oMath>
                </a14:m>
                <a:r>
                  <a:rPr lang="ar-AE"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are added to retain spatial information.</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retrieved data is formatted into a concise, user-friendly summary displayed on the interface or exported as a report.</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Output: User Friendly Summary</a:t>
                </a:r>
              </a:p>
            </p:txBody>
          </p:sp>
        </mc:Choice>
        <mc:Fallback xmlns="">
          <p:sp>
            <p:nvSpPr>
              <p:cNvPr id="10" name="TextBox 9">
                <a:extLst>
                  <a:ext uri="{FF2B5EF4-FFF2-40B4-BE49-F238E27FC236}">
                    <a16:creationId xmlns:a16="http://schemas.microsoft.com/office/drawing/2014/main" id="{680EBA3D-9B21-D122-9A1F-ABC7D4BE6298}"/>
                  </a:ext>
                </a:extLst>
              </p:cNvPr>
              <p:cNvSpPr txBox="1">
                <a:spLocks noRot="1" noChangeAspect="1" noMove="1" noResize="1" noEditPoints="1" noAdjustHandles="1" noChangeArrowheads="1" noChangeShapeType="1" noTextEdit="1"/>
              </p:cNvSpPr>
              <p:nvPr/>
            </p:nvSpPr>
            <p:spPr>
              <a:xfrm>
                <a:off x="685800" y="1836003"/>
                <a:ext cx="11049000" cy="3444854"/>
              </a:xfrm>
              <a:prstGeom prst="rect">
                <a:avLst/>
              </a:prstGeom>
              <a:blipFill>
                <a:blip r:embed="rId2"/>
                <a:stretch>
                  <a:fillRect l="-773" t="-1416" r="-883" b="-3186"/>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6C69D709-748E-2B20-04AB-FF66C5E7BFF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24800" y="4571255"/>
            <a:ext cx="3309620" cy="2253615"/>
          </a:xfrm>
          <a:prstGeom prst="rect">
            <a:avLst/>
          </a:prstGeom>
          <a:noFill/>
        </p:spPr>
      </p:pic>
    </p:spTree>
    <p:extLst>
      <p:ext uri="{BB962C8B-B14F-4D97-AF65-F5344CB8AC3E}">
        <p14:creationId xmlns:p14="http://schemas.microsoft.com/office/powerpoint/2010/main" val="27064221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3D3F654-8B48-CB04-5EAE-D28A91FB0950}"/>
              </a:ext>
            </a:extLst>
          </p:cNvPr>
          <p:cNvPicPr>
            <a:picLocks noChangeAspect="1"/>
          </p:cNvPicPr>
          <p:nvPr/>
        </p:nvPicPr>
        <p:blipFill>
          <a:blip r:embed="rId2"/>
          <a:stretch>
            <a:fillRect/>
          </a:stretch>
        </p:blipFill>
        <p:spPr>
          <a:xfrm>
            <a:off x="8229600" y="2057400"/>
            <a:ext cx="2966720" cy="2516505"/>
          </a:xfrm>
          <a:prstGeom prst="rect">
            <a:avLst/>
          </a:prstGeom>
        </p:spPr>
      </p:pic>
      <p:sp>
        <p:nvSpPr>
          <p:cNvPr id="9" name="TextBox 8">
            <a:extLst>
              <a:ext uri="{FF2B5EF4-FFF2-40B4-BE49-F238E27FC236}">
                <a16:creationId xmlns:a16="http://schemas.microsoft.com/office/drawing/2014/main" id="{D2FCA604-F162-F2B6-4BD6-EA403354B43B}"/>
              </a:ext>
            </a:extLst>
          </p:cNvPr>
          <p:cNvSpPr txBox="1"/>
          <p:nvPr/>
        </p:nvSpPr>
        <p:spPr>
          <a:xfrm>
            <a:off x="588010" y="289679"/>
            <a:ext cx="11015980" cy="6647974"/>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DATASET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dataset contains diverse pest images collected from open agricultural sources like IP102</a:t>
            </a:r>
            <a:r>
              <a:rPr lang="en-US" sz="2400" dirty="0">
                <a:latin typeface="Times New Roman" panose="02020603050405020304" pitchFamily="18" charset="0"/>
                <a:cs typeface="Times New Roman" panose="02020603050405020304" pitchFamily="18" charset="0"/>
                <a:hlinkClick r:id="rId3"/>
              </a:rPr>
              <a:t>(link) </a:t>
            </a:r>
            <a:r>
              <a:rPr lang="en-US" sz="2400" dirty="0">
                <a:latin typeface="Times New Roman" panose="02020603050405020304" pitchFamily="18" charset="0"/>
                <a:cs typeface="Times New Roman" panose="02020603050405020304" pitchFamily="18" charset="0"/>
              </a:rPr>
              <a:t>covering multiple pest species across various crops and environments.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image represents real-field conditions, ensuring variability in lighting, background, and pest orientation for robust model training.</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Sample Code for Data loading and Data Splitting</a:t>
            </a:r>
          </a:p>
          <a:p>
            <a:r>
              <a:rPr lang="en-US" sz="1800" dirty="0"/>
              <a:t>from </a:t>
            </a:r>
            <a:r>
              <a:rPr lang="en-US" sz="1800" dirty="0" err="1"/>
              <a:t>torchvision.datasets</a:t>
            </a:r>
            <a:r>
              <a:rPr lang="en-US" sz="1800" dirty="0"/>
              <a:t> import </a:t>
            </a:r>
            <a:r>
              <a:rPr lang="en-US" sz="1800" dirty="0" err="1"/>
              <a:t>ImageFolder</a:t>
            </a:r>
            <a:endParaRPr lang="en-US" sz="1800" dirty="0"/>
          </a:p>
          <a:p>
            <a:r>
              <a:rPr lang="en-US" sz="1800" dirty="0"/>
              <a:t>from </a:t>
            </a:r>
            <a:r>
              <a:rPr lang="en-US" sz="1800" dirty="0" err="1"/>
              <a:t>torchvision</a:t>
            </a:r>
            <a:r>
              <a:rPr lang="en-US" sz="1800" dirty="0"/>
              <a:t> import transforms</a:t>
            </a:r>
          </a:p>
          <a:p>
            <a:r>
              <a:rPr lang="en-US" sz="1800" dirty="0"/>
              <a:t>from </a:t>
            </a:r>
            <a:r>
              <a:rPr lang="en-US" sz="1800" dirty="0" err="1"/>
              <a:t>torch.utils.data</a:t>
            </a:r>
            <a:r>
              <a:rPr lang="en-US" sz="1800" dirty="0"/>
              <a:t> import </a:t>
            </a:r>
            <a:r>
              <a:rPr lang="en-US" sz="1800" dirty="0" err="1"/>
              <a:t>DataLoader</a:t>
            </a:r>
            <a:endParaRPr lang="en-US" sz="1800" dirty="0"/>
          </a:p>
          <a:p>
            <a:r>
              <a:rPr lang="en-US" sz="1800" dirty="0"/>
              <a:t> </a:t>
            </a:r>
          </a:p>
          <a:p>
            <a:r>
              <a:rPr lang="en-US" sz="1800" dirty="0"/>
              <a:t> </a:t>
            </a:r>
          </a:p>
          <a:p>
            <a:r>
              <a:rPr lang="en-US" sz="1800" dirty="0" err="1"/>
              <a:t>train_dir</a:t>
            </a:r>
            <a:r>
              <a:rPr lang="en-US" sz="1800" dirty="0"/>
              <a:t> = '/content/train'</a:t>
            </a:r>
          </a:p>
          <a:p>
            <a:r>
              <a:rPr lang="en-US" sz="1800" dirty="0" err="1"/>
              <a:t>val_dir</a:t>
            </a:r>
            <a:r>
              <a:rPr lang="en-US" sz="1800" dirty="0"/>
              <a:t> = '/content/valid'</a:t>
            </a:r>
          </a:p>
          <a:p>
            <a:r>
              <a:rPr lang="en-US" sz="1800" dirty="0" err="1"/>
              <a:t>test_dir</a:t>
            </a:r>
            <a:r>
              <a:rPr lang="en-US" sz="1800" dirty="0"/>
              <a:t> = '/content/test’</a:t>
            </a:r>
          </a:p>
          <a:p>
            <a:r>
              <a:rPr lang="en-US" sz="1800" dirty="0"/>
              <a:t> </a:t>
            </a:r>
          </a:p>
          <a:p>
            <a:endParaRPr lang="en-US" sz="1800" dirty="0"/>
          </a:p>
          <a:p>
            <a:r>
              <a:rPr lang="en-US" sz="1800" dirty="0" err="1"/>
              <a:t>train_loader</a:t>
            </a:r>
            <a:r>
              <a:rPr lang="en-US" sz="1800" dirty="0"/>
              <a:t> = </a:t>
            </a:r>
            <a:r>
              <a:rPr lang="en-US" sz="1800" dirty="0" err="1"/>
              <a:t>DataLoader</a:t>
            </a:r>
            <a:r>
              <a:rPr lang="en-US" sz="1800" dirty="0"/>
              <a:t>(</a:t>
            </a:r>
            <a:r>
              <a:rPr lang="en-US" sz="1800" dirty="0" err="1"/>
              <a:t>ImageFolder</a:t>
            </a:r>
            <a:r>
              <a:rPr lang="en-US" sz="1800" dirty="0"/>
              <a:t>(</a:t>
            </a:r>
            <a:r>
              <a:rPr lang="en-US" sz="1800" dirty="0" err="1"/>
              <a:t>train_dir</a:t>
            </a:r>
            <a:r>
              <a:rPr lang="en-US" sz="1800" dirty="0"/>
              <a:t>, transform), </a:t>
            </a:r>
            <a:r>
              <a:rPr lang="en-US" sz="1800" dirty="0" err="1"/>
              <a:t>batch_size</a:t>
            </a:r>
            <a:r>
              <a:rPr lang="en-US" sz="1800" dirty="0"/>
              <a:t>=16, shuffle=True)</a:t>
            </a:r>
          </a:p>
          <a:p>
            <a:r>
              <a:rPr lang="en-US" sz="1800" dirty="0" err="1"/>
              <a:t>val_loader</a:t>
            </a:r>
            <a:r>
              <a:rPr lang="en-US" sz="1800" dirty="0"/>
              <a:t>   = </a:t>
            </a:r>
            <a:r>
              <a:rPr lang="en-US" sz="1800" dirty="0" err="1"/>
              <a:t>DataLoader</a:t>
            </a:r>
            <a:r>
              <a:rPr lang="en-US" sz="1800" dirty="0"/>
              <a:t>(</a:t>
            </a:r>
            <a:r>
              <a:rPr lang="en-US" sz="1800" dirty="0" err="1"/>
              <a:t>ImageFolder</a:t>
            </a:r>
            <a:r>
              <a:rPr lang="en-US" sz="1800" dirty="0"/>
              <a:t>(</a:t>
            </a:r>
            <a:r>
              <a:rPr lang="en-US" sz="1800" dirty="0" err="1"/>
              <a:t>val_dir</a:t>
            </a:r>
            <a:r>
              <a:rPr lang="en-US" sz="1800" dirty="0"/>
              <a:t>, transform), </a:t>
            </a:r>
            <a:r>
              <a:rPr lang="en-US" sz="1800" dirty="0" err="1"/>
              <a:t>batch_size</a:t>
            </a:r>
            <a:r>
              <a:rPr lang="en-US" sz="1800" dirty="0"/>
              <a:t>=16)</a:t>
            </a:r>
          </a:p>
          <a:p>
            <a:r>
              <a:rPr lang="en-US" sz="1800" dirty="0" err="1"/>
              <a:t>test_loader</a:t>
            </a:r>
            <a:r>
              <a:rPr lang="en-US" sz="1800" dirty="0"/>
              <a:t>  = </a:t>
            </a:r>
            <a:r>
              <a:rPr lang="en-US" sz="1800" dirty="0" err="1"/>
              <a:t>DataLoader</a:t>
            </a:r>
            <a:r>
              <a:rPr lang="en-US" sz="1800" dirty="0"/>
              <a:t>(</a:t>
            </a:r>
            <a:r>
              <a:rPr lang="en-US" sz="1800" dirty="0" err="1"/>
              <a:t>ImageFolder</a:t>
            </a:r>
            <a:r>
              <a:rPr lang="en-US" sz="1800" dirty="0"/>
              <a:t>(</a:t>
            </a:r>
            <a:r>
              <a:rPr lang="en-US" sz="1800" dirty="0" err="1"/>
              <a:t>test_dir</a:t>
            </a:r>
            <a:r>
              <a:rPr lang="en-US" sz="1800" dirty="0"/>
              <a:t>, transform), </a:t>
            </a:r>
            <a:r>
              <a:rPr lang="en-US" sz="1800" dirty="0" err="1"/>
              <a:t>batch_size</a:t>
            </a:r>
            <a:r>
              <a:rPr lang="en-US" sz="1800" dirty="0"/>
              <a:t>=16)</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p>
        </p:txBody>
      </p:sp>
      <p:sp>
        <p:nvSpPr>
          <p:cNvPr id="3" name="TextBox 2">
            <a:extLst>
              <a:ext uri="{FF2B5EF4-FFF2-40B4-BE49-F238E27FC236}">
                <a16:creationId xmlns:a16="http://schemas.microsoft.com/office/drawing/2014/main" id="{05D658FB-F644-2381-9991-38AE3D309DCA}"/>
              </a:ext>
            </a:extLst>
          </p:cNvPr>
          <p:cNvSpPr txBox="1"/>
          <p:nvPr/>
        </p:nvSpPr>
        <p:spPr>
          <a:xfrm>
            <a:off x="8229600" y="4648200"/>
            <a:ext cx="6097656" cy="369332"/>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Fig. Sample Images In Dataset</a:t>
            </a:r>
          </a:p>
        </p:txBody>
      </p:sp>
    </p:spTree>
    <p:extLst>
      <p:ext uri="{BB962C8B-B14F-4D97-AF65-F5344CB8AC3E}">
        <p14:creationId xmlns:p14="http://schemas.microsoft.com/office/powerpoint/2010/main" val="33131660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F000D-19C4-0513-68FE-845FAD421FC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845C41E-F81C-BBB9-5E55-BC74FA23EABF}"/>
              </a:ext>
            </a:extLst>
          </p:cNvPr>
          <p:cNvSpPr txBox="1"/>
          <p:nvPr/>
        </p:nvSpPr>
        <p:spPr>
          <a:xfrm>
            <a:off x="914400" y="394692"/>
            <a:ext cx="11015980" cy="6186309"/>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DATA PREPROCESSING</a:t>
            </a:r>
          </a:p>
          <a:p>
            <a:pPr marL="342900" indent="-34290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TIn</a:t>
            </a:r>
            <a:r>
              <a:rPr lang="en-US" sz="2400" dirty="0">
                <a:latin typeface="Times New Roman" panose="02020603050405020304" pitchFamily="18" charset="0"/>
                <a:cs typeface="Times New Roman" panose="02020603050405020304" pitchFamily="18" charset="0"/>
              </a:rPr>
              <a:t> this project, all images undergo systematic pre-processing to enhance image quality and ensure accurate pest classification. The key techniques applied are as follows</a:t>
            </a:r>
            <a:r>
              <a:rPr lang="en-US" sz="20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Image Resizing, Normalization, Data Cleaning, Data Augmentation</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Sample Code for Data Preprocessing</a:t>
            </a:r>
          </a:p>
          <a:p>
            <a:r>
              <a:rPr lang="en-US" sz="1800" dirty="0"/>
              <a:t>import </a:t>
            </a:r>
            <a:r>
              <a:rPr lang="en-US" sz="1800" dirty="0" err="1"/>
              <a:t>albumentations</a:t>
            </a:r>
            <a:r>
              <a:rPr lang="en-US" sz="1800" dirty="0"/>
              <a:t> as A</a:t>
            </a:r>
          </a:p>
          <a:p>
            <a:r>
              <a:rPr lang="en-US" sz="1800" dirty="0"/>
              <a:t>from </a:t>
            </a:r>
            <a:r>
              <a:rPr lang="en-US" sz="1800" dirty="0" err="1"/>
              <a:t>albumentations.pytorch</a:t>
            </a:r>
            <a:r>
              <a:rPr lang="en-US" sz="1800" dirty="0"/>
              <a:t> import ToTensorV2</a:t>
            </a:r>
          </a:p>
          <a:p>
            <a:r>
              <a:rPr lang="en-US" sz="1800" dirty="0"/>
              <a:t> </a:t>
            </a:r>
          </a:p>
          <a:p>
            <a:r>
              <a:rPr lang="en-US" sz="1800" dirty="0" err="1"/>
              <a:t>train_tf</a:t>
            </a:r>
            <a:r>
              <a:rPr lang="en-US" sz="1800" dirty="0"/>
              <a:t> = </a:t>
            </a:r>
            <a:r>
              <a:rPr lang="en-US" sz="1800" dirty="0" err="1"/>
              <a:t>A.Compose</a:t>
            </a:r>
            <a:r>
              <a:rPr lang="en-US" sz="1800" dirty="0"/>
              <a:t>([</a:t>
            </a:r>
          </a:p>
          <a:p>
            <a:r>
              <a:rPr lang="en-US" sz="1800" dirty="0"/>
              <a:t>    </a:t>
            </a:r>
            <a:r>
              <a:rPr lang="en-US" sz="1800" dirty="0" err="1"/>
              <a:t>A.HorizontalFlip</a:t>
            </a:r>
            <a:r>
              <a:rPr lang="en-US" sz="1800" dirty="0"/>
              <a:t>(),</a:t>
            </a:r>
          </a:p>
          <a:p>
            <a:r>
              <a:rPr lang="en-US" sz="1800" dirty="0"/>
              <a:t>    A.RandomRotate90(),</a:t>
            </a:r>
          </a:p>
          <a:p>
            <a:r>
              <a:rPr lang="en-US" sz="1800" dirty="0"/>
              <a:t>    </a:t>
            </a:r>
            <a:r>
              <a:rPr lang="en-US" sz="1800" dirty="0" err="1"/>
              <a:t>A.RandomBrightnessContrast</a:t>
            </a:r>
            <a:r>
              <a:rPr lang="en-US" sz="1800" dirty="0"/>
              <a:t>(),</a:t>
            </a:r>
          </a:p>
          <a:p>
            <a:r>
              <a:rPr lang="en-US" sz="1800" dirty="0"/>
              <a:t>    </a:t>
            </a:r>
            <a:r>
              <a:rPr lang="en-US" sz="1800" dirty="0" err="1"/>
              <a:t>A.Resize</a:t>
            </a:r>
            <a:r>
              <a:rPr lang="en-US" sz="1800" dirty="0"/>
              <a:t>(224, 224),</a:t>
            </a:r>
          </a:p>
          <a:p>
            <a:r>
              <a:rPr lang="en-US" sz="1800" dirty="0"/>
              <a:t>    ToTensorV2()</a:t>
            </a:r>
          </a:p>
          <a:p>
            <a:r>
              <a:rPr lang="en-US" sz="1800" dirty="0"/>
              <a:t>])</a:t>
            </a:r>
          </a:p>
          <a:p>
            <a:r>
              <a:rPr lang="en-US" sz="1800" dirty="0"/>
              <a:t> </a:t>
            </a:r>
          </a:p>
          <a:p>
            <a:r>
              <a:rPr lang="en-US" sz="1800" dirty="0" err="1"/>
              <a:t>valid_tf</a:t>
            </a:r>
            <a:r>
              <a:rPr lang="en-US" sz="1800" dirty="0"/>
              <a:t> = </a:t>
            </a:r>
            <a:r>
              <a:rPr lang="en-US" sz="1800" dirty="0" err="1"/>
              <a:t>A.Compose</a:t>
            </a:r>
            <a:r>
              <a:rPr lang="en-US" sz="1800" dirty="0"/>
              <a:t>([</a:t>
            </a:r>
          </a:p>
          <a:p>
            <a:r>
              <a:rPr lang="en-US" sz="1800" dirty="0"/>
              <a:t>    </a:t>
            </a:r>
            <a:r>
              <a:rPr lang="en-US" sz="1800" dirty="0" err="1"/>
              <a:t>A.Resize</a:t>
            </a:r>
            <a:r>
              <a:rPr lang="en-US" sz="1800" dirty="0"/>
              <a:t>(224, 224),</a:t>
            </a:r>
          </a:p>
          <a:p>
            <a:r>
              <a:rPr lang="en-US" sz="1800" dirty="0"/>
              <a:t>    ToTensorV2()</a:t>
            </a:r>
          </a:p>
        </p:txBody>
      </p:sp>
      <p:sp>
        <p:nvSpPr>
          <p:cNvPr id="3" name="TextBox 2">
            <a:extLst>
              <a:ext uri="{FF2B5EF4-FFF2-40B4-BE49-F238E27FC236}">
                <a16:creationId xmlns:a16="http://schemas.microsoft.com/office/drawing/2014/main" id="{9156CA4C-C1C8-3445-8DD9-596177B15326}"/>
              </a:ext>
            </a:extLst>
          </p:cNvPr>
          <p:cNvSpPr txBox="1"/>
          <p:nvPr/>
        </p:nvSpPr>
        <p:spPr>
          <a:xfrm>
            <a:off x="7315200" y="4648200"/>
            <a:ext cx="6097656" cy="646331"/>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Fig. BEFORE AND AFTER APPLYING THE PREPROCESSING TECHNIQUE.</a:t>
            </a:r>
          </a:p>
        </p:txBody>
      </p:sp>
      <p:pic>
        <p:nvPicPr>
          <p:cNvPr id="2" name="Picture 1">
            <a:extLst>
              <a:ext uri="{FF2B5EF4-FFF2-40B4-BE49-F238E27FC236}">
                <a16:creationId xmlns:a16="http://schemas.microsoft.com/office/drawing/2014/main" id="{C7B7E930-9895-CE12-7363-1D38B9D6A78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43800" y="2167255"/>
            <a:ext cx="4248150" cy="2480945"/>
          </a:xfrm>
          <a:prstGeom prst="rect">
            <a:avLst/>
          </a:prstGeom>
          <a:noFill/>
        </p:spPr>
      </p:pic>
    </p:spTree>
    <p:extLst>
      <p:ext uri="{BB962C8B-B14F-4D97-AF65-F5344CB8AC3E}">
        <p14:creationId xmlns:p14="http://schemas.microsoft.com/office/powerpoint/2010/main" val="33159404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595880">
              <a:lnSpc>
                <a:spcPct val="100000"/>
              </a:lnSpc>
              <a:spcBef>
                <a:spcPts val="130"/>
              </a:spcBef>
            </a:pPr>
            <a:r>
              <a:rPr spc="-45" dirty="0"/>
              <a:t>IMPLEMENTATION</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22</a:t>
            </a:fld>
            <a:endParaRPr spc="-25" dirty="0"/>
          </a:p>
        </p:txBody>
      </p:sp>
      <p:sp>
        <p:nvSpPr>
          <p:cNvPr id="14" name="TextBox 13">
            <a:extLst>
              <a:ext uri="{FF2B5EF4-FFF2-40B4-BE49-F238E27FC236}">
                <a16:creationId xmlns:a16="http://schemas.microsoft.com/office/drawing/2014/main" id="{ED3E1A30-BAA1-AA8D-1B57-3CD97DD1336F}"/>
              </a:ext>
            </a:extLst>
          </p:cNvPr>
          <p:cNvSpPr txBox="1"/>
          <p:nvPr/>
        </p:nvSpPr>
        <p:spPr>
          <a:xfrm>
            <a:off x="1245060" y="1212659"/>
            <a:ext cx="9809226" cy="550920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System Configuration:</a:t>
            </a:r>
          </a:p>
          <a:p>
            <a:pPr marL="342900" lvl="1" indent="-342900" algn="l" eaLnBrk="0" fontAlgn="base" hangingPunct="0">
              <a:lnSpc>
                <a:spcPct val="10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Windows 10 OS</a:t>
            </a:r>
          </a:p>
          <a:p>
            <a:pPr marL="342900" lvl="1" indent="-342900" algn="l" eaLnBrk="0" fontAlgn="base" hangingPunct="0">
              <a:lnSpc>
                <a:spcPct val="10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Intel® Core™ i5 Processor</a:t>
            </a:r>
          </a:p>
          <a:p>
            <a:pPr marL="342900" lvl="1" indent="-342900" algn="l" eaLnBrk="0" fontAlgn="base" hangingPunct="0">
              <a:lnSpc>
                <a:spcPct val="10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 GB RAM</a:t>
            </a:r>
          </a:p>
          <a:p>
            <a:pPr marL="342900" lvl="1" indent="-342900" algn="l" eaLnBrk="0" fontAlgn="base" hangingPunct="0">
              <a:lnSpc>
                <a:spcPct val="10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dedicated GPU (CPU-based training)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Development Environment:</a:t>
            </a:r>
          </a:p>
          <a:p>
            <a:pPr marL="342900" lvl="1" indent="-342900" algn="l" eaLnBrk="0" fontAlgn="base" hangingPunct="0">
              <a:lnSpc>
                <a:spcPct val="10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Language: Python</a:t>
            </a:r>
          </a:p>
          <a:p>
            <a:pPr marL="342900" lvl="1" indent="-342900" algn="l" eaLnBrk="0" fontAlgn="base" hangingPunct="0">
              <a:lnSpc>
                <a:spcPct val="10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Framework: </a:t>
            </a:r>
            <a:r>
              <a:rPr kumimoji="0" lang="en-US" altLang="en-US" sz="22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PyTorch</a:t>
            </a: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1" indent="-342900" algn="l" eaLnBrk="0" fontAlgn="base" hangingPunct="0">
              <a:lnSpc>
                <a:spcPct val="10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Libraries: </a:t>
            </a:r>
            <a:r>
              <a:rPr kumimoji="0" lang="en-US" altLang="en-US" sz="22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timm</a:t>
            </a: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Albumentations</a:t>
            </a: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OpenCV</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Dataset:</a:t>
            </a:r>
          </a:p>
          <a:p>
            <a:pPr marL="342900" lvl="1" indent="-342900" algn="l" eaLnBrk="0" fontAlgn="base" hangingPunct="0">
              <a:lnSpc>
                <a:spcPct val="10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IP102 rice pest dataset (40 classes)</a:t>
            </a:r>
          </a:p>
          <a:p>
            <a:pPr marL="342900" lvl="1" indent="-342900" algn="l" eaLnBrk="0" fontAlgn="base" hangingPunct="0">
              <a:lnSpc>
                <a:spcPct val="10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Includes image normalization and data augmentation (flips, rotations, brightness)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Performance Focus:</a:t>
            </a:r>
          </a:p>
          <a:p>
            <a:pPr marL="342900" lvl="1" indent="-342900" algn="l" eaLnBrk="0" fontAlgn="base" hangingPunct="0">
              <a:lnSpc>
                <a:spcPct val="10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Batch and data-loading optimized for CPU efficiency</a:t>
            </a:r>
          </a:p>
          <a:p>
            <a:pPr marL="342900" lvl="1" indent="-342900" algn="l" eaLnBrk="0" fontAlgn="base" hangingPunct="0">
              <a:lnSpc>
                <a:spcPct val="10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Evaluated lightweight </a:t>
            </a:r>
            <a:r>
              <a:rPr kumimoji="0" lang="en-US" altLang="en-US" sz="22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ViT</a:t>
            </a: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 for low-resource environments</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231390">
              <a:lnSpc>
                <a:spcPct val="100000"/>
              </a:lnSpc>
              <a:spcBef>
                <a:spcPts val="130"/>
              </a:spcBef>
            </a:pPr>
            <a:r>
              <a:rPr spc="-10" dirty="0"/>
              <a:t>R</a:t>
            </a:r>
            <a:r>
              <a:rPr spc="75" dirty="0"/>
              <a:t>E</a:t>
            </a:r>
            <a:r>
              <a:rPr spc="-30" dirty="0"/>
              <a:t>S</a:t>
            </a:r>
            <a:r>
              <a:rPr spc="60" dirty="0"/>
              <a:t>U</a:t>
            </a:r>
            <a:r>
              <a:rPr spc="-445" dirty="0"/>
              <a:t>L</a:t>
            </a:r>
            <a:r>
              <a:rPr spc="5" dirty="0"/>
              <a:t>T</a:t>
            </a:r>
            <a:r>
              <a:rPr spc="35" dirty="0"/>
              <a:t>S</a:t>
            </a:r>
            <a:r>
              <a:rPr spc="-215" dirty="0"/>
              <a:t> </a:t>
            </a:r>
            <a:r>
              <a:rPr dirty="0"/>
              <a:t>&amp;</a:t>
            </a:r>
            <a:r>
              <a:rPr spc="-285" dirty="0"/>
              <a:t> </a:t>
            </a:r>
            <a:r>
              <a:rPr spc="-25" dirty="0"/>
              <a:t>ANALYSIS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23</a:t>
            </a:fld>
            <a:endParaRPr spc="-25" dirty="0"/>
          </a:p>
        </p:txBody>
      </p:sp>
      <p:sp>
        <p:nvSpPr>
          <p:cNvPr id="14" name="TextBox 13">
            <a:extLst>
              <a:ext uri="{FF2B5EF4-FFF2-40B4-BE49-F238E27FC236}">
                <a16:creationId xmlns:a16="http://schemas.microsoft.com/office/drawing/2014/main" id="{D8EBD162-96C6-E5B7-8AFC-DAC023A42902}"/>
              </a:ext>
            </a:extLst>
          </p:cNvPr>
          <p:cNvSpPr txBox="1"/>
          <p:nvPr/>
        </p:nvSpPr>
        <p:spPr>
          <a:xfrm>
            <a:off x="1219198" y="4191001"/>
            <a:ext cx="9829802" cy="400110"/>
          </a:xfrm>
          <a:prstGeom prst="rect">
            <a:avLst/>
          </a:prstGeom>
          <a:noFill/>
        </p:spPr>
        <p:txBody>
          <a:bodyPr wrap="square">
            <a:spAutoFit/>
          </a:bodyPr>
          <a:lstStyle/>
          <a:p>
            <a:endParaRPr lang="en-IN" sz="2000" dirty="0"/>
          </a:p>
        </p:txBody>
      </p:sp>
      <p:sp>
        <p:nvSpPr>
          <p:cNvPr id="11" name="TextBox 10">
            <a:extLst>
              <a:ext uri="{FF2B5EF4-FFF2-40B4-BE49-F238E27FC236}">
                <a16:creationId xmlns:a16="http://schemas.microsoft.com/office/drawing/2014/main" id="{4B6F69C0-0C1E-69D9-3E10-F12968E371ED}"/>
              </a:ext>
            </a:extLst>
          </p:cNvPr>
          <p:cNvSpPr txBox="1"/>
          <p:nvPr/>
        </p:nvSpPr>
        <p:spPr>
          <a:xfrm>
            <a:off x="838200" y="1600200"/>
            <a:ext cx="11049000" cy="2677656"/>
          </a:xfrm>
          <a:prstGeom prst="rect">
            <a:avLst/>
          </a:prstGeom>
          <a:noFill/>
        </p:spPr>
        <p:txBody>
          <a:bodyPr wrap="square">
            <a:spAutoFit/>
          </a:bodyPr>
          <a:lstStyle/>
          <a:p>
            <a:pPr marL="0" indent="0">
              <a:buNone/>
            </a:pPr>
            <a:r>
              <a:rPr lang="en-US" sz="2400" b="1" dirty="0">
                <a:latin typeface="Times New Roman" panose="02020603050405020304" pitchFamily="18" charset="0"/>
                <a:cs typeface="Times New Roman" panose="02020603050405020304" pitchFamily="18" charset="0"/>
              </a:rPr>
              <a:t> Training Performance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Model: Vision Transformer (</a:t>
            </a:r>
            <a:r>
              <a:rPr lang="en-US" sz="2400" dirty="0" err="1">
                <a:latin typeface="Times New Roman" panose="02020603050405020304" pitchFamily="18" charset="0"/>
                <a:cs typeface="Times New Roman" panose="02020603050405020304" pitchFamily="18" charset="0"/>
              </a:rPr>
              <a:t>ViT</a:t>
            </a:r>
            <a:r>
              <a:rPr lang="en-US" sz="2400" dirty="0">
                <a:latin typeface="Times New Roman" panose="02020603050405020304" pitchFamily="18" charset="0"/>
                <a:cs typeface="Times New Roman" panose="02020603050405020304" pitchFamily="18" charset="0"/>
              </a:rPr>
              <a:t>) trained for 50 epochs using </a:t>
            </a:r>
            <a:r>
              <a:rPr lang="en-US" sz="2400" dirty="0" err="1">
                <a:latin typeface="Times New Roman" panose="02020603050405020304" pitchFamily="18" charset="0"/>
                <a:cs typeface="Times New Roman" panose="02020603050405020304" pitchFamily="18" charset="0"/>
              </a:rPr>
              <a:t>AdamW</a:t>
            </a:r>
            <a:r>
              <a:rPr lang="en-US" sz="2400" dirty="0">
                <a:latin typeface="Times New Roman" panose="02020603050405020304" pitchFamily="18" charset="0"/>
                <a:cs typeface="Times New Roman" panose="02020603050405020304" pitchFamily="18" charset="0"/>
              </a:rPr>
              <a:t> optimizer.</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Validation Accuracy: ≈ 96%</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Training Trend: Smooth decline in loss — strong generalization and no overfitting.</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Model effectively adapted to diverse and challenging pest images.</a:t>
            </a:r>
          </a:p>
          <a:p>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p>
        </p:txBody>
      </p:sp>
      <p:graphicFrame>
        <p:nvGraphicFramePr>
          <p:cNvPr id="13" name="Table 12">
            <a:extLst>
              <a:ext uri="{FF2B5EF4-FFF2-40B4-BE49-F238E27FC236}">
                <a16:creationId xmlns:a16="http://schemas.microsoft.com/office/drawing/2014/main" id="{099D76AD-C5ED-7CDB-D9B3-B02538E0CB4D}"/>
              </a:ext>
            </a:extLst>
          </p:cNvPr>
          <p:cNvGraphicFramePr>
            <a:graphicFrameLocks noGrp="1"/>
          </p:cNvGraphicFramePr>
          <p:nvPr>
            <p:extLst>
              <p:ext uri="{D42A27DB-BD31-4B8C-83A1-F6EECF244321}">
                <p14:modId xmlns:p14="http://schemas.microsoft.com/office/powerpoint/2010/main" val="4254365019"/>
              </p:ext>
            </p:extLst>
          </p:nvPr>
        </p:nvGraphicFramePr>
        <p:xfrm>
          <a:off x="2070099" y="3781052"/>
          <a:ext cx="8128000" cy="22860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86052307"/>
                    </a:ext>
                  </a:extLst>
                </a:gridCol>
                <a:gridCol w="4064000">
                  <a:extLst>
                    <a:ext uri="{9D8B030D-6E8A-4147-A177-3AD203B41FA5}">
                      <a16:colId xmlns:a16="http://schemas.microsoft.com/office/drawing/2014/main" val="393904167"/>
                    </a:ext>
                  </a:extLst>
                </a:gridCol>
              </a:tblGrid>
              <a:tr h="37084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400" b="0" dirty="0"/>
                        <a:t>Metric</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400" b="0" dirty="0"/>
                        <a:t>Score (%)</a:t>
                      </a:r>
                    </a:p>
                  </a:txBody>
                  <a:tcPr/>
                </a:tc>
                <a:extLst>
                  <a:ext uri="{0D108BD9-81ED-4DB2-BD59-A6C34878D82A}">
                    <a16:rowId xmlns:a16="http://schemas.microsoft.com/office/drawing/2014/main" val="3822506589"/>
                  </a:ext>
                </a:extLst>
              </a:tr>
              <a:tr h="37084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400" b="0" dirty="0"/>
                        <a:t>Accuracy</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400" b="0" dirty="0"/>
                        <a:t>96.0</a:t>
                      </a:r>
                    </a:p>
                  </a:txBody>
                  <a:tcPr/>
                </a:tc>
                <a:extLst>
                  <a:ext uri="{0D108BD9-81ED-4DB2-BD59-A6C34878D82A}">
                    <a16:rowId xmlns:a16="http://schemas.microsoft.com/office/drawing/2014/main" val="3500167078"/>
                  </a:ext>
                </a:extLst>
              </a:tr>
              <a:tr h="37084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400" b="0" dirty="0"/>
                        <a:t>Precision</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400" b="0" dirty="0"/>
                        <a:t>95.4</a:t>
                      </a:r>
                    </a:p>
                  </a:txBody>
                  <a:tcPr/>
                </a:tc>
                <a:extLst>
                  <a:ext uri="{0D108BD9-81ED-4DB2-BD59-A6C34878D82A}">
                    <a16:rowId xmlns:a16="http://schemas.microsoft.com/office/drawing/2014/main" val="2022481130"/>
                  </a:ext>
                </a:extLst>
              </a:tr>
              <a:tr h="37084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400" b="0" dirty="0"/>
                        <a:t>Recall</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400" b="0" dirty="0"/>
                        <a:t>94.7</a:t>
                      </a:r>
                    </a:p>
                  </a:txBody>
                  <a:tcPr/>
                </a:tc>
                <a:extLst>
                  <a:ext uri="{0D108BD9-81ED-4DB2-BD59-A6C34878D82A}">
                    <a16:rowId xmlns:a16="http://schemas.microsoft.com/office/drawing/2014/main" val="219548557"/>
                  </a:ext>
                </a:extLst>
              </a:tr>
              <a:tr h="37084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400" b="0" dirty="0"/>
                        <a:t>F1-Score</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400" b="0" dirty="0"/>
                        <a:t>95.0</a:t>
                      </a:r>
                    </a:p>
                  </a:txBody>
                  <a:tcPr/>
                </a:tc>
                <a:extLst>
                  <a:ext uri="{0D108BD9-81ED-4DB2-BD59-A6C34878D82A}">
                    <a16:rowId xmlns:a16="http://schemas.microsoft.com/office/drawing/2014/main" val="311734817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DE1657-9F52-5444-670D-3856A2DAFB3D}"/>
              </a:ext>
            </a:extLst>
          </p:cNvPr>
          <p:cNvSpPr txBox="1"/>
          <p:nvPr/>
        </p:nvSpPr>
        <p:spPr>
          <a:xfrm>
            <a:off x="838200" y="1066800"/>
            <a:ext cx="10972800" cy="2308324"/>
          </a:xfrm>
          <a:prstGeom prst="rect">
            <a:avLst/>
          </a:prstGeom>
          <a:noFill/>
        </p:spPr>
        <p:txBody>
          <a:bodyPr wrap="square" rtlCol="0">
            <a:spAutoFit/>
          </a:bodyPr>
          <a:lstStyle/>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Confusion matrix</a:t>
            </a:r>
            <a:r>
              <a:rPr lang="en-US" sz="2400" dirty="0">
                <a:latin typeface="Times New Roman" panose="02020603050405020304" pitchFamily="18" charset="0"/>
                <a:cs typeface="Times New Roman" panose="02020603050405020304" pitchFamily="18" charset="0"/>
              </a:rPr>
              <a:t> shows high class-wise accuracy and consistent recognition across all 40 pests.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Outperforms existing CNN and YOLO-based models in both </a:t>
            </a:r>
            <a:r>
              <a:rPr lang="en-US" sz="2400" b="1" dirty="0">
                <a:latin typeface="Times New Roman" panose="02020603050405020304" pitchFamily="18" charset="0"/>
                <a:cs typeface="Times New Roman" panose="02020603050405020304" pitchFamily="18" charset="0"/>
              </a:rPr>
              <a:t>accuracy</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robustness</a:t>
            </a:r>
            <a:r>
              <a:rPr lang="en-US" sz="2400" dirty="0">
                <a:latin typeface="Times New Roman" panose="02020603050405020304" pitchFamily="18" charset="0"/>
                <a:cs typeface="Times New Roman" panose="02020603050405020304" pitchFamily="18" charset="0"/>
              </a:rPr>
              <a:t>.</a:t>
            </a:r>
          </a:p>
          <a:p>
            <a:pPr marL="0" indent="0">
              <a:buNone/>
            </a:pPr>
            <a:endParaRPr lang="en-IN" sz="2400" dirty="0"/>
          </a:p>
          <a:p>
            <a:endParaRPr lang="en-IN" sz="2400" dirty="0"/>
          </a:p>
        </p:txBody>
      </p:sp>
      <p:pic>
        <p:nvPicPr>
          <p:cNvPr id="3" name="Picture 2">
            <a:extLst>
              <a:ext uri="{FF2B5EF4-FFF2-40B4-BE49-F238E27FC236}">
                <a16:creationId xmlns:a16="http://schemas.microsoft.com/office/drawing/2014/main" id="{8F314B08-BF98-0D5C-4AD0-7A3A5294E983}"/>
              </a:ext>
            </a:extLst>
          </p:cNvPr>
          <p:cNvPicPr>
            <a:picLocks noChangeAspect="1"/>
          </p:cNvPicPr>
          <p:nvPr/>
        </p:nvPicPr>
        <p:blipFill>
          <a:blip r:embed="rId2"/>
          <a:stretch>
            <a:fillRect/>
          </a:stretch>
        </p:blipFill>
        <p:spPr>
          <a:xfrm>
            <a:off x="702158" y="2558840"/>
            <a:ext cx="4744486" cy="3586561"/>
          </a:xfrm>
          <a:prstGeom prst="rect">
            <a:avLst/>
          </a:prstGeom>
        </p:spPr>
      </p:pic>
      <p:pic>
        <p:nvPicPr>
          <p:cNvPr id="5" name="Picture 4">
            <a:extLst>
              <a:ext uri="{FF2B5EF4-FFF2-40B4-BE49-F238E27FC236}">
                <a16:creationId xmlns:a16="http://schemas.microsoft.com/office/drawing/2014/main" id="{47A01162-2FA3-F7C4-47C2-AEFDB3A073ED}"/>
              </a:ext>
            </a:extLst>
          </p:cNvPr>
          <p:cNvPicPr>
            <a:picLocks noChangeAspect="1"/>
          </p:cNvPicPr>
          <p:nvPr/>
        </p:nvPicPr>
        <p:blipFill>
          <a:blip r:embed="rId3"/>
          <a:stretch>
            <a:fillRect/>
          </a:stretch>
        </p:blipFill>
        <p:spPr>
          <a:xfrm>
            <a:off x="7166112" y="2558840"/>
            <a:ext cx="3879573" cy="3701642"/>
          </a:xfrm>
          <a:prstGeom prst="rect">
            <a:avLst/>
          </a:prstGeom>
        </p:spPr>
      </p:pic>
    </p:spTree>
    <p:extLst>
      <p:ext uri="{BB962C8B-B14F-4D97-AF65-F5344CB8AC3E}">
        <p14:creationId xmlns:p14="http://schemas.microsoft.com/office/powerpoint/2010/main" val="2908186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588010">
              <a:lnSpc>
                <a:spcPct val="100000"/>
              </a:lnSpc>
              <a:spcBef>
                <a:spcPts val="130"/>
              </a:spcBef>
            </a:pPr>
            <a:r>
              <a:rPr dirty="0"/>
              <a:t>CONCLUSION</a:t>
            </a:r>
            <a:r>
              <a:rPr spc="-140" dirty="0"/>
              <a:t> </a:t>
            </a:r>
            <a:r>
              <a:rPr dirty="0"/>
              <a:t>and</a:t>
            </a:r>
            <a:r>
              <a:rPr spc="-85" dirty="0"/>
              <a:t> </a:t>
            </a:r>
            <a:r>
              <a:rPr dirty="0"/>
              <a:t>FUTURE</a:t>
            </a:r>
            <a:r>
              <a:rPr spc="-120" dirty="0"/>
              <a:t> </a:t>
            </a:r>
            <a:r>
              <a:rPr spc="-10" dirty="0"/>
              <a:t>SCOPE</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25</a:t>
            </a:fld>
            <a:endParaRPr spc="-25" dirty="0"/>
          </a:p>
        </p:txBody>
      </p:sp>
      <p:sp>
        <p:nvSpPr>
          <p:cNvPr id="10" name="TextBox 9">
            <a:extLst>
              <a:ext uri="{FF2B5EF4-FFF2-40B4-BE49-F238E27FC236}">
                <a16:creationId xmlns:a16="http://schemas.microsoft.com/office/drawing/2014/main" id="{5B8D5D31-1B0D-C29C-7399-F0BDFDADE327}"/>
              </a:ext>
            </a:extLst>
          </p:cNvPr>
          <p:cNvSpPr txBox="1"/>
          <p:nvPr/>
        </p:nvSpPr>
        <p:spPr>
          <a:xfrm>
            <a:off x="917575" y="1066800"/>
            <a:ext cx="11198225" cy="5185522"/>
          </a:xfrm>
          <a:prstGeom prst="rect">
            <a:avLst/>
          </a:prstGeom>
          <a:noFill/>
        </p:spPr>
        <p:txBody>
          <a:bodyPr wrap="square">
            <a:spAutoFit/>
          </a:bodyPr>
          <a:lstStyle/>
          <a:p>
            <a:pPr marL="0" indent="0">
              <a:lnSpc>
                <a:spcPct val="150000"/>
              </a:lnSpc>
              <a:buNone/>
            </a:pPr>
            <a:r>
              <a:rPr lang="en-US" sz="2800" b="1" dirty="0">
                <a:latin typeface="Times New Roman" panose="02020603050405020304" pitchFamily="18" charset="0"/>
                <a:cs typeface="Times New Roman" panose="02020603050405020304" pitchFamily="18" charset="0"/>
              </a:rPr>
              <a:t>Conclusion</a:t>
            </a:r>
          </a:p>
          <a:p>
            <a:pPr marL="457200" lvl="1"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Proposed </a:t>
            </a:r>
            <a:r>
              <a:rPr lang="en-US" sz="2800" b="1" dirty="0" err="1">
                <a:latin typeface="Times New Roman" panose="02020603050405020304" pitchFamily="18" charset="0"/>
                <a:cs typeface="Times New Roman" panose="02020603050405020304" pitchFamily="18" charset="0"/>
              </a:rPr>
              <a:t>PestVision</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an intelligent pest detection and remedy system.</a:t>
            </a:r>
          </a:p>
          <a:p>
            <a:pPr marL="457200" lvl="1"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Uses </a:t>
            </a:r>
            <a:r>
              <a:rPr lang="en-US" sz="2800" b="1" dirty="0">
                <a:latin typeface="Times New Roman" panose="02020603050405020304" pitchFamily="18" charset="0"/>
                <a:cs typeface="Times New Roman" panose="02020603050405020304" pitchFamily="18" charset="0"/>
              </a:rPr>
              <a:t>Vision Transformers (</a:t>
            </a:r>
            <a:r>
              <a:rPr lang="en-US" sz="2800" b="1" dirty="0" err="1">
                <a:latin typeface="Times New Roman" panose="02020603050405020304" pitchFamily="18" charset="0"/>
                <a:cs typeface="Times New Roman" panose="02020603050405020304" pitchFamily="18" charset="0"/>
              </a:rPr>
              <a:t>ViT</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to classify </a:t>
            </a:r>
            <a:r>
              <a:rPr lang="en-US" sz="2800" b="1" dirty="0">
                <a:latin typeface="Times New Roman" panose="02020603050405020304" pitchFamily="18" charset="0"/>
                <a:cs typeface="Times New Roman" panose="02020603050405020304" pitchFamily="18" charset="0"/>
              </a:rPr>
              <a:t>40 rice pest species</a:t>
            </a:r>
            <a:r>
              <a:rPr lang="en-US" sz="2800" dirty="0">
                <a:latin typeface="Times New Roman" panose="02020603050405020304" pitchFamily="18" charset="0"/>
                <a:cs typeface="Times New Roman" panose="02020603050405020304" pitchFamily="18" charset="0"/>
              </a:rPr>
              <a:t> with </a:t>
            </a:r>
            <a:r>
              <a:rPr lang="en-US" sz="2800" b="1" dirty="0">
                <a:latin typeface="Times New Roman" panose="02020603050405020304" pitchFamily="18" charset="0"/>
                <a:cs typeface="Times New Roman" panose="02020603050405020304" pitchFamily="18" charset="0"/>
              </a:rPr>
              <a:t>96% accuracy</a:t>
            </a:r>
            <a:r>
              <a:rPr lang="en-US" sz="2800" dirty="0">
                <a:latin typeface="Times New Roman" panose="02020603050405020304" pitchFamily="18" charset="0"/>
                <a:cs typeface="Times New Roman" panose="02020603050405020304" pitchFamily="18" charset="0"/>
              </a:rPr>
              <a:t>.</a:t>
            </a:r>
          </a:p>
          <a:p>
            <a:pPr marL="457200" lvl="1"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Integrates a </a:t>
            </a:r>
            <a:r>
              <a:rPr lang="en-US" sz="2800" b="1" dirty="0">
                <a:latin typeface="Times New Roman" panose="02020603050405020304" pitchFamily="18" charset="0"/>
                <a:cs typeface="Times New Roman" panose="02020603050405020304" pitchFamily="18" charset="0"/>
              </a:rPr>
              <a:t>domain-aware layer</a:t>
            </a:r>
            <a:r>
              <a:rPr lang="en-US" sz="2800" dirty="0">
                <a:latin typeface="Times New Roman" panose="02020603050405020304" pitchFamily="18" charset="0"/>
                <a:cs typeface="Times New Roman" panose="02020603050405020304" pitchFamily="18" charset="0"/>
              </a:rPr>
              <a:t> for </a:t>
            </a:r>
            <a:r>
              <a:rPr lang="en-US" sz="2800" b="1" dirty="0">
                <a:latin typeface="Times New Roman" panose="02020603050405020304" pitchFamily="18" charset="0"/>
                <a:cs typeface="Times New Roman" panose="02020603050405020304" pitchFamily="18" charset="0"/>
              </a:rPr>
              <a:t>pesticide and preventive recommendations</a:t>
            </a:r>
            <a:r>
              <a:rPr lang="en-US" sz="2800" dirty="0">
                <a:latin typeface="Times New Roman" panose="02020603050405020304" pitchFamily="18" charset="0"/>
                <a:cs typeface="Times New Roman" panose="02020603050405020304" pitchFamily="18" charset="0"/>
              </a:rPr>
              <a:t>.</a:t>
            </a:r>
          </a:p>
          <a:p>
            <a:pPr marL="457200" lvl="1"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Acts as a </a:t>
            </a:r>
            <a:r>
              <a:rPr lang="en-US" sz="2800" b="1" dirty="0">
                <a:latin typeface="Times New Roman" panose="02020603050405020304" pitchFamily="18" charset="0"/>
                <a:cs typeface="Times New Roman" panose="02020603050405020304" pitchFamily="18" charset="0"/>
              </a:rPr>
              <a:t>smart assistant</a:t>
            </a:r>
            <a:r>
              <a:rPr lang="en-US" sz="2800" dirty="0">
                <a:latin typeface="Times New Roman" panose="02020603050405020304" pitchFamily="18" charset="0"/>
                <a:cs typeface="Times New Roman" panose="02020603050405020304" pitchFamily="18" charset="0"/>
              </a:rPr>
              <a:t> supporting </a:t>
            </a:r>
            <a:r>
              <a:rPr lang="en-US" sz="2800" b="1" dirty="0">
                <a:latin typeface="Times New Roman" panose="02020603050405020304" pitchFamily="18" charset="0"/>
                <a:cs typeface="Times New Roman" panose="02020603050405020304" pitchFamily="18" charset="0"/>
              </a:rPr>
              <a:t>accurate and sustainable pest management</a:t>
            </a:r>
            <a:r>
              <a:rPr lang="en-US" sz="20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EF044-5572-2B5F-3A68-5D2EB5EAEEC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3360B36-7513-52AA-38F6-46EAACE9CC8D}"/>
              </a:ext>
            </a:extLst>
          </p:cNvPr>
          <p:cNvSpPr txBox="1">
            <a:spLocks noGrp="1"/>
          </p:cNvSpPr>
          <p:nvPr>
            <p:ph type="title"/>
          </p:nvPr>
        </p:nvSpPr>
        <p:spPr>
          <a:prstGeom prst="rect">
            <a:avLst/>
          </a:prstGeom>
        </p:spPr>
        <p:txBody>
          <a:bodyPr vert="horz" wrap="square" lIns="0" tIns="262889" rIns="0" bIns="0" rtlCol="0">
            <a:spAutoFit/>
          </a:bodyPr>
          <a:lstStyle/>
          <a:p>
            <a:pPr marL="588010">
              <a:lnSpc>
                <a:spcPct val="100000"/>
              </a:lnSpc>
              <a:spcBef>
                <a:spcPts val="130"/>
              </a:spcBef>
            </a:pPr>
            <a:r>
              <a:rPr dirty="0"/>
              <a:t>CONCLUSION</a:t>
            </a:r>
            <a:r>
              <a:rPr spc="-140" dirty="0"/>
              <a:t> </a:t>
            </a:r>
            <a:r>
              <a:rPr dirty="0"/>
              <a:t>and</a:t>
            </a:r>
            <a:r>
              <a:rPr spc="-85" dirty="0"/>
              <a:t> </a:t>
            </a:r>
            <a:r>
              <a:rPr dirty="0"/>
              <a:t>FUTURE</a:t>
            </a:r>
            <a:r>
              <a:rPr spc="-120" dirty="0"/>
              <a:t> </a:t>
            </a:r>
            <a:r>
              <a:rPr spc="-10" dirty="0"/>
              <a:t>SCOPE</a:t>
            </a:r>
          </a:p>
        </p:txBody>
      </p:sp>
      <p:sp>
        <p:nvSpPr>
          <p:cNvPr id="4" name="object 4">
            <a:extLst>
              <a:ext uri="{FF2B5EF4-FFF2-40B4-BE49-F238E27FC236}">
                <a16:creationId xmlns:a16="http://schemas.microsoft.com/office/drawing/2014/main" id="{4D5203DB-5441-7436-1AF7-8765FF51A24B}"/>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a:extLst>
              <a:ext uri="{FF2B5EF4-FFF2-40B4-BE49-F238E27FC236}">
                <a16:creationId xmlns:a16="http://schemas.microsoft.com/office/drawing/2014/main" id="{23B8C156-282D-1FBF-172A-E537E0F5F7C0}"/>
              </a:ext>
            </a:extLst>
          </p:cNvPr>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a:extLst>
              <a:ext uri="{FF2B5EF4-FFF2-40B4-BE49-F238E27FC236}">
                <a16:creationId xmlns:a16="http://schemas.microsoft.com/office/drawing/2014/main" id="{1C01714F-9921-C9D5-74B8-6FEB5B55C85A}"/>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a:extLst>
              <a:ext uri="{FF2B5EF4-FFF2-40B4-BE49-F238E27FC236}">
                <a16:creationId xmlns:a16="http://schemas.microsoft.com/office/drawing/2014/main" id="{266175CA-DD21-AD11-DA80-B9294342048F}"/>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88B658B9-3FE6-DFDF-5A83-A337861ECA60}"/>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26</a:t>
            </a:fld>
            <a:endParaRPr spc="-25" dirty="0"/>
          </a:p>
        </p:txBody>
      </p:sp>
      <p:sp>
        <p:nvSpPr>
          <p:cNvPr id="10" name="TextBox 9">
            <a:extLst>
              <a:ext uri="{FF2B5EF4-FFF2-40B4-BE49-F238E27FC236}">
                <a16:creationId xmlns:a16="http://schemas.microsoft.com/office/drawing/2014/main" id="{EEE1A5AF-1D08-7BD1-2C10-D5CCF3FE034B}"/>
              </a:ext>
            </a:extLst>
          </p:cNvPr>
          <p:cNvSpPr txBox="1"/>
          <p:nvPr/>
        </p:nvSpPr>
        <p:spPr>
          <a:xfrm>
            <a:off x="1295400" y="1483469"/>
            <a:ext cx="10210800" cy="3892861"/>
          </a:xfrm>
          <a:prstGeom prst="rect">
            <a:avLst/>
          </a:prstGeom>
          <a:noFill/>
        </p:spPr>
        <p:txBody>
          <a:bodyPr wrap="square">
            <a:spAutoFit/>
          </a:bodyPr>
          <a:lstStyle/>
          <a:p>
            <a:pPr>
              <a:lnSpc>
                <a:spcPct val="150000"/>
              </a:lnSpc>
            </a:pPr>
            <a:r>
              <a:rPr lang="en-US" sz="2800" b="1" dirty="0">
                <a:latin typeface="Times New Roman" panose="02020603050405020304" pitchFamily="18" charset="0"/>
                <a:cs typeface="Times New Roman" panose="02020603050405020304" pitchFamily="18" charset="0"/>
              </a:rPr>
              <a:t>Future Scope</a:t>
            </a:r>
          </a:p>
          <a:p>
            <a:pPr marL="457200" lvl="1"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Extend to </a:t>
            </a:r>
            <a:r>
              <a:rPr lang="en-US" sz="2800" b="1" dirty="0">
                <a:latin typeface="Times New Roman" panose="02020603050405020304" pitchFamily="18" charset="0"/>
                <a:cs typeface="Times New Roman" panose="02020603050405020304" pitchFamily="18" charset="0"/>
              </a:rPr>
              <a:t>multi-crop pest datasets</a:t>
            </a:r>
            <a:r>
              <a:rPr lang="en-US" sz="2800" dirty="0">
                <a:latin typeface="Times New Roman" panose="02020603050405020304" pitchFamily="18" charset="0"/>
                <a:cs typeface="Times New Roman" panose="02020603050405020304" pitchFamily="18" charset="0"/>
              </a:rPr>
              <a:t>.</a:t>
            </a:r>
          </a:p>
          <a:p>
            <a:pPr marL="457200" lvl="1"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Develop </a:t>
            </a:r>
            <a:r>
              <a:rPr lang="en-US" sz="2800" b="1" dirty="0">
                <a:latin typeface="Times New Roman" panose="02020603050405020304" pitchFamily="18" charset="0"/>
                <a:cs typeface="Times New Roman" panose="02020603050405020304" pitchFamily="18" charset="0"/>
              </a:rPr>
              <a:t>regional language &amp; voice interfaces</a:t>
            </a:r>
            <a:r>
              <a:rPr lang="en-US" sz="2800" dirty="0">
                <a:latin typeface="Times New Roman" panose="02020603050405020304" pitchFamily="18" charset="0"/>
                <a:cs typeface="Times New Roman" panose="02020603050405020304" pitchFamily="18" charset="0"/>
              </a:rPr>
              <a:t>.</a:t>
            </a:r>
          </a:p>
          <a:p>
            <a:pPr marL="457200" lvl="1"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Integrate </a:t>
            </a:r>
            <a:r>
              <a:rPr lang="en-US" sz="2800" b="1" dirty="0">
                <a:latin typeface="Times New Roman" panose="02020603050405020304" pitchFamily="18" charset="0"/>
                <a:cs typeface="Times New Roman" panose="02020603050405020304" pitchFamily="18" charset="0"/>
              </a:rPr>
              <a:t>drone-based pest monitoring</a:t>
            </a:r>
            <a:r>
              <a:rPr lang="en-US" sz="2800" dirty="0">
                <a:latin typeface="Times New Roman" panose="02020603050405020304" pitchFamily="18" charset="0"/>
                <a:cs typeface="Times New Roman" panose="02020603050405020304" pitchFamily="18" charset="0"/>
              </a:rPr>
              <a:t> for early detection.</a:t>
            </a:r>
          </a:p>
          <a:p>
            <a:pPr marL="457200" lvl="1"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Using drones to capture crop images can help farmers spot pests early, target affected areas efficiently</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14381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3345815">
              <a:lnSpc>
                <a:spcPct val="100000"/>
              </a:lnSpc>
              <a:spcBef>
                <a:spcPts val="130"/>
              </a:spcBef>
            </a:pPr>
            <a:r>
              <a:rPr spc="-10" dirty="0"/>
              <a:t>REFERENCES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27</a:t>
            </a:fld>
            <a:endParaRPr spc="-25" dirty="0"/>
          </a:p>
        </p:txBody>
      </p:sp>
      <p:sp>
        <p:nvSpPr>
          <p:cNvPr id="10" name="TextBox 9">
            <a:extLst>
              <a:ext uri="{FF2B5EF4-FFF2-40B4-BE49-F238E27FC236}">
                <a16:creationId xmlns:a16="http://schemas.microsoft.com/office/drawing/2014/main" id="{13B6AA6A-2EB7-CEB6-B408-0434CE5AF2AD}"/>
              </a:ext>
            </a:extLst>
          </p:cNvPr>
          <p:cNvSpPr txBox="1"/>
          <p:nvPr/>
        </p:nvSpPr>
        <p:spPr>
          <a:xfrm>
            <a:off x="1045463" y="1443841"/>
            <a:ext cx="10275063" cy="4893647"/>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[3] R. Mehta and D. Rao, “</a:t>
            </a:r>
            <a:r>
              <a:rPr lang="en-US" sz="2400" dirty="0" err="1">
                <a:latin typeface="Times New Roman" panose="02020603050405020304" pitchFamily="18" charset="0"/>
                <a:cs typeface="Times New Roman" panose="02020603050405020304" pitchFamily="18" charset="0"/>
              </a:rPr>
              <a:t>FasterPest</a:t>
            </a:r>
            <a:r>
              <a:rPr lang="en-US" sz="2400" dirty="0">
                <a:latin typeface="Times New Roman" panose="02020603050405020304" pitchFamily="18" charset="0"/>
                <a:cs typeface="Times New Roman" panose="02020603050405020304" pitchFamily="18" charset="0"/>
              </a:rPr>
              <a:t>: An efficient framework for pest detection and leaf condition assessment,” </a:t>
            </a:r>
            <a:r>
              <a:rPr lang="en-US" sz="2400" i="1" dirty="0">
                <a:latin typeface="Times New Roman" panose="02020603050405020304" pitchFamily="18" charset="0"/>
                <a:cs typeface="Times New Roman" panose="02020603050405020304" pitchFamily="18" charset="0"/>
              </a:rPr>
              <a:t>Computers and Electronics in Agriculture</a:t>
            </a:r>
            <a:r>
              <a:rPr lang="en-US" sz="2400" dirty="0">
                <a:latin typeface="Times New Roman" panose="02020603050405020304" pitchFamily="18" charset="0"/>
                <a:cs typeface="Times New Roman" panose="02020603050405020304" pitchFamily="18" charset="0"/>
              </a:rPr>
              <a:t>, vol. 208, p. 107785, 2024.</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[5] C. Wang, X. Li, and Y. Huang, “Rice pest and disease detection using </a:t>
            </a:r>
            <a:r>
              <a:rPr lang="en-US" sz="2400" dirty="0" err="1">
                <a:latin typeface="Times New Roman" panose="02020603050405020304" pitchFamily="18" charset="0"/>
                <a:cs typeface="Times New Roman" panose="02020603050405020304" pitchFamily="18" charset="0"/>
              </a:rPr>
              <a:t>MobileNet</a:t>
            </a:r>
            <a:r>
              <a:rPr lang="en-US" sz="2400" dirty="0">
                <a:latin typeface="Times New Roman" panose="02020603050405020304" pitchFamily="18" charset="0"/>
                <a:cs typeface="Times New Roman" panose="02020603050405020304" pitchFamily="18" charset="0"/>
              </a:rPr>
              <a:t>-CA-YOLO,” </a:t>
            </a:r>
            <a:r>
              <a:rPr lang="en-US" sz="2400" i="1" dirty="0">
                <a:latin typeface="Times New Roman" panose="02020603050405020304" pitchFamily="18" charset="0"/>
                <a:cs typeface="Times New Roman" panose="02020603050405020304" pitchFamily="18" charset="0"/>
              </a:rPr>
              <a:t>Applied Sciences</a:t>
            </a:r>
            <a:r>
              <a:rPr lang="en-US" sz="2400" dirty="0">
                <a:latin typeface="Times New Roman" panose="02020603050405020304" pitchFamily="18" charset="0"/>
                <a:cs typeface="Times New Roman" panose="02020603050405020304" pitchFamily="18" charset="0"/>
              </a:rPr>
              <a:t>, vol. 13, no. 9, p. 4881, 2023.</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[6] H. Zhang, L. Chen, and F. Sun, “RGC-YOLO: Lightweight model for multi-scale rice disease detection,” </a:t>
            </a:r>
            <a:r>
              <a:rPr lang="en-US" sz="2400" i="1" dirty="0">
                <a:latin typeface="Times New Roman" panose="02020603050405020304" pitchFamily="18" charset="0"/>
                <a:cs typeface="Times New Roman" panose="02020603050405020304" pitchFamily="18" charset="0"/>
              </a:rPr>
              <a:t>Sensors</a:t>
            </a:r>
            <a:r>
              <a:rPr lang="en-US" sz="2400" dirty="0">
                <a:latin typeface="Times New Roman" panose="02020603050405020304" pitchFamily="18" charset="0"/>
                <a:cs typeface="Times New Roman" panose="02020603050405020304" pitchFamily="18" charset="0"/>
              </a:rPr>
              <a:t>, vol. 25, no. 1, p. 135, 2025.</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[8] P. Sharma and R. Kumar, “</a:t>
            </a:r>
            <a:r>
              <a:rPr lang="en-US" sz="2400" dirty="0" err="1">
                <a:latin typeface="Times New Roman" panose="02020603050405020304" pitchFamily="18" charset="0"/>
                <a:cs typeface="Times New Roman" panose="02020603050405020304" pitchFamily="18" charset="0"/>
              </a:rPr>
              <a:t>PestNet</a:t>
            </a:r>
            <a:r>
              <a:rPr lang="en-US" sz="2400" dirty="0">
                <a:latin typeface="Times New Roman" panose="02020603050405020304" pitchFamily="18" charset="0"/>
                <a:cs typeface="Times New Roman" panose="02020603050405020304" pitchFamily="18" charset="0"/>
              </a:rPr>
              <a:t>: An end-to-end deep learning approach for large-scale multi-class pest detection and classification,” </a:t>
            </a:r>
            <a:r>
              <a:rPr lang="en-US" sz="2400" i="1" dirty="0">
                <a:latin typeface="Times New Roman" panose="02020603050405020304" pitchFamily="18" charset="0"/>
                <a:cs typeface="Times New Roman" panose="02020603050405020304" pitchFamily="18" charset="0"/>
              </a:rPr>
              <a:t>Computers and Electronics in Agriculture</a:t>
            </a:r>
            <a:r>
              <a:rPr lang="en-US" sz="2400" dirty="0">
                <a:latin typeface="Times New Roman" panose="02020603050405020304" pitchFamily="18" charset="0"/>
                <a:cs typeface="Times New Roman" panose="02020603050405020304" pitchFamily="18" charset="0"/>
              </a:rPr>
              <a:t>, vol. 212, p. 108195, 2024.</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[9] S. Li and Y. Tan, “</a:t>
            </a:r>
            <a:r>
              <a:rPr lang="en-US" sz="2400" dirty="0" err="1">
                <a:latin typeface="Times New Roman" panose="02020603050405020304" pitchFamily="18" charset="0"/>
                <a:cs typeface="Times New Roman" panose="02020603050405020304" pitchFamily="18" charset="0"/>
              </a:rPr>
              <a:t>RiceShield</a:t>
            </a:r>
            <a:r>
              <a:rPr lang="en-US" sz="2400" dirty="0">
                <a:latin typeface="Times New Roman" panose="02020603050405020304" pitchFamily="18" charset="0"/>
                <a:cs typeface="Times New Roman" panose="02020603050405020304" pitchFamily="18" charset="0"/>
              </a:rPr>
              <a:t>: Robust detection of subtle rice pest features using channel-spatial attention,” </a:t>
            </a:r>
            <a:r>
              <a:rPr lang="en-US" sz="2400" i="1" dirty="0">
                <a:latin typeface="Times New Roman" panose="02020603050405020304" pitchFamily="18" charset="0"/>
                <a:cs typeface="Times New Roman" panose="02020603050405020304" pitchFamily="18" charset="0"/>
              </a:rPr>
              <a:t>Computers and Electronics in Agriculture</a:t>
            </a:r>
            <a:r>
              <a:rPr lang="en-US" sz="2400" dirty="0">
                <a:latin typeface="Times New Roman" panose="02020603050405020304" pitchFamily="18" charset="0"/>
                <a:cs typeface="Times New Roman" panose="02020603050405020304" pitchFamily="18" charset="0"/>
              </a:rPr>
              <a:t>, vol. 209, p. 107893, 2024.</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CB0024-256D-D246-1655-03A019F6C86B}"/>
              </a:ext>
            </a:extLst>
          </p:cNvPr>
          <p:cNvSpPr txBox="1"/>
          <p:nvPr/>
        </p:nvSpPr>
        <p:spPr>
          <a:xfrm>
            <a:off x="990600" y="1166843"/>
            <a:ext cx="10439400" cy="4893647"/>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[4] M. Tan and Q. Le, “Efficientnetv2: Smaller models and faster training,” in Proceedings of the International Conference on Machine Learning (ICML). PMLR, 2021.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[5] C. Wang, X. Li, and Y. Huang, “Rice pest and disease detection using </a:t>
            </a:r>
            <a:r>
              <a:rPr lang="en-US" sz="2400" dirty="0" err="1">
                <a:latin typeface="Times New Roman" panose="02020603050405020304" pitchFamily="18" charset="0"/>
                <a:cs typeface="Times New Roman" panose="02020603050405020304" pitchFamily="18" charset="0"/>
              </a:rPr>
              <a:t>mobilenet</a:t>
            </a:r>
            <a:r>
              <a:rPr lang="en-US" sz="2400" dirty="0">
                <a:latin typeface="Times New Roman" panose="02020603050405020304" pitchFamily="18" charset="0"/>
                <a:cs typeface="Times New Roman" panose="02020603050405020304" pitchFamily="18" charset="0"/>
              </a:rPr>
              <a:t>-ca-yolo,” Applied Sciences, vol. 13, no. 9, p. 4881, 2023.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[6] H. Zhang, L. Chen, and F. Sun, “</a:t>
            </a:r>
            <a:r>
              <a:rPr lang="en-US" sz="2400" dirty="0" err="1">
                <a:latin typeface="Times New Roman" panose="02020603050405020304" pitchFamily="18" charset="0"/>
                <a:cs typeface="Times New Roman" panose="02020603050405020304" pitchFamily="18" charset="0"/>
              </a:rPr>
              <a:t>Rgc</a:t>
            </a:r>
            <a:r>
              <a:rPr lang="en-US" sz="2400" dirty="0">
                <a:latin typeface="Times New Roman" panose="02020603050405020304" pitchFamily="18" charset="0"/>
                <a:cs typeface="Times New Roman" panose="02020603050405020304" pitchFamily="18" charset="0"/>
              </a:rPr>
              <a:t>-yolo: Lightweight model for multi scale rice disease detection,” Sensors, vol. 25, no. 1, p. 135, 2025.</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[7] A. Hussain, M. A. Raza, and A. R. Javed, “Deep mobilenetv2-yolov4 for intelligent pest detection in low-resource settings,” IEEE Access, vol. 11, pp. 12345–12356, 2023.</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[8] P. Sharma and R. Kumar, “</a:t>
            </a:r>
            <a:r>
              <a:rPr lang="en-US" sz="2400" dirty="0" err="1">
                <a:latin typeface="Times New Roman" panose="02020603050405020304" pitchFamily="18" charset="0"/>
                <a:cs typeface="Times New Roman" panose="02020603050405020304" pitchFamily="18" charset="0"/>
              </a:rPr>
              <a:t>Pestnet</a:t>
            </a:r>
            <a:r>
              <a:rPr lang="en-US" sz="2400" dirty="0">
                <a:latin typeface="Times New Roman" panose="02020603050405020304" pitchFamily="18" charset="0"/>
                <a:cs typeface="Times New Roman" panose="02020603050405020304" pitchFamily="18" charset="0"/>
              </a:rPr>
              <a:t>: An end-to-end deep learning approach for large-scale multi-class pest detection and classification,” Computers and Electronics in Agriculture, vol. 212, p. 108195, 2024.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37365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1635125">
              <a:lnSpc>
                <a:spcPct val="100000"/>
              </a:lnSpc>
              <a:spcBef>
                <a:spcPts val="130"/>
              </a:spcBef>
            </a:pPr>
            <a:r>
              <a:rPr dirty="0"/>
              <a:t>QUESTIONS</a:t>
            </a:r>
            <a:r>
              <a:rPr spc="-150" dirty="0"/>
              <a:t> </a:t>
            </a:r>
            <a:r>
              <a:rPr spc="-20" dirty="0"/>
              <a:t>and</a:t>
            </a:r>
            <a:r>
              <a:rPr spc="-265" dirty="0"/>
              <a:t> </a:t>
            </a:r>
            <a:r>
              <a:rPr spc="-10" dirty="0"/>
              <a:t>ANSWERS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29</a:t>
            </a:fld>
            <a:endParaRPr spc="-25" dirty="0"/>
          </a:p>
        </p:txBody>
      </p:sp>
      <p:sp>
        <p:nvSpPr>
          <p:cNvPr id="10" name="TextBox 9">
            <a:extLst>
              <a:ext uri="{FF2B5EF4-FFF2-40B4-BE49-F238E27FC236}">
                <a16:creationId xmlns:a16="http://schemas.microsoft.com/office/drawing/2014/main" id="{3FED7CAE-1FE6-051F-E875-F134CA86A4B6}"/>
              </a:ext>
            </a:extLst>
          </p:cNvPr>
          <p:cNvSpPr txBox="1"/>
          <p:nvPr/>
        </p:nvSpPr>
        <p:spPr>
          <a:xfrm>
            <a:off x="917574" y="1219200"/>
            <a:ext cx="10969625" cy="4893647"/>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1. Problem &amp; Motivation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Q: Why did you choose pest classification as your problem? </a:t>
            </a:r>
          </a:p>
          <a:p>
            <a:r>
              <a:rPr lang="en-US" sz="2400" dirty="0">
                <a:latin typeface="Times New Roman" panose="02020603050405020304" pitchFamily="18" charset="0"/>
                <a:cs typeface="Times New Roman" panose="02020603050405020304" pitchFamily="18" charset="0"/>
              </a:rPr>
              <a:t>A: Pest attacks cause significant crop loss. Early AI-driven pest recognition helps reduce yield and economic loss.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Q: How is your approach different from existing systems? </a:t>
            </a:r>
          </a:p>
          <a:p>
            <a:r>
              <a:rPr lang="en-US" sz="2400" dirty="0">
                <a:latin typeface="Times New Roman" panose="02020603050405020304" pitchFamily="18" charset="0"/>
                <a:cs typeface="Times New Roman" panose="02020603050405020304" pitchFamily="18" charset="0"/>
              </a:rPr>
              <a:t>A: Most stop at classification. Ours adds domain-aware summarization that provides actionable remedies for farmers</a:t>
            </a:r>
          </a:p>
          <a:p>
            <a:r>
              <a:rPr lang="en-US" sz="2400" dirty="0">
                <a:latin typeface="Times New Roman" panose="02020603050405020304" pitchFamily="18" charset="0"/>
                <a:cs typeface="Times New Roman" panose="02020603050405020304" pitchFamily="18" charset="0"/>
              </a:rPr>
              <a:t>2. Model &amp; Methodology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Q: Why </a:t>
            </a:r>
            <a:r>
              <a:rPr lang="en-US" sz="2400" dirty="0" err="1">
                <a:latin typeface="Times New Roman" panose="02020603050405020304" pitchFamily="18" charset="0"/>
                <a:cs typeface="Times New Roman" panose="02020603050405020304" pitchFamily="18" charset="0"/>
              </a:rPr>
              <a:t>ViT</a:t>
            </a:r>
            <a:r>
              <a:rPr lang="en-US" sz="2400" dirty="0">
                <a:latin typeface="Times New Roman" panose="02020603050405020304" pitchFamily="18" charset="0"/>
                <a:cs typeface="Times New Roman" panose="02020603050405020304" pitchFamily="18" charset="0"/>
              </a:rPr>
              <a:t> over CNNs? </a:t>
            </a:r>
          </a:p>
          <a:p>
            <a:r>
              <a:rPr lang="en-US" sz="2400" dirty="0">
                <a:latin typeface="Times New Roman" panose="02020603050405020304" pitchFamily="18" charset="0"/>
                <a:cs typeface="Times New Roman" panose="02020603050405020304" pitchFamily="18" charset="0"/>
              </a:rPr>
              <a:t>A: </a:t>
            </a:r>
            <a:r>
              <a:rPr lang="en-US" sz="2400" dirty="0" err="1">
                <a:latin typeface="Times New Roman" panose="02020603050405020304" pitchFamily="18" charset="0"/>
                <a:cs typeface="Times New Roman" panose="02020603050405020304" pitchFamily="18" charset="0"/>
              </a:rPr>
              <a:t>ViT</a:t>
            </a:r>
            <a:r>
              <a:rPr lang="en-US" sz="2400" dirty="0">
                <a:latin typeface="Times New Roman" panose="02020603050405020304" pitchFamily="18" charset="0"/>
                <a:cs typeface="Times New Roman" panose="02020603050405020304" pitchFamily="18" charset="0"/>
              </a:rPr>
              <a:t> captures global context via self-attention, ideal for subtle pest differences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Q: What dataset did you use? </a:t>
            </a:r>
          </a:p>
          <a:p>
            <a:r>
              <a:rPr lang="en-US" sz="2400" dirty="0">
                <a:latin typeface="Times New Roman" panose="02020603050405020304" pitchFamily="18" charset="0"/>
                <a:cs typeface="Times New Roman" panose="02020603050405020304" pitchFamily="18" charset="0"/>
              </a:rPr>
              <a:t>A: IP102 dataset with 75,000+ pest images across 102 categories. Q: How did you handle class imbalance? A: Applied augmentation and class-weighted loss.</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681E0-05E3-4D4C-3B0F-C1334B59979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2479493-1520-1781-DAEC-9FF9FE865E10}"/>
              </a:ext>
            </a:extLst>
          </p:cNvPr>
          <p:cNvSpPr txBox="1">
            <a:spLocks noGrp="1"/>
          </p:cNvSpPr>
          <p:nvPr>
            <p:ph type="title"/>
          </p:nvPr>
        </p:nvSpPr>
        <p:spPr>
          <a:prstGeom prst="rect">
            <a:avLst/>
          </a:prstGeom>
        </p:spPr>
        <p:txBody>
          <a:bodyPr vert="horz" wrap="square" lIns="0" tIns="262889" rIns="0" bIns="0" rtlCol="0">
            <a:spAutoFit/>
          </a:bodyPr>
          <a:lstStyle/>
          <a:p>
            <a:pPr marL="1635125">
              <a:lnSpc>
                <a:spcPct val="100000"/>
              </a:lnSpc>
              <a:spcBef>
                <a:spcPts val="130"/>
              </a:spcBef>
            </a:pPr>
            <a:r>
              <a:rPr dirty="0"/>
              <a:t>QUESTIONS</a:t>
            </a:r>
            <a:r>
              <a:rPr spc="-150" dirty="0"/>
              <a:t> </a:t>
            </a:r>
            <a:r>
              <a:rPr spc="-20" dirty="0"/>
              <a:t>and</a:t>
            </a:r>
            <a:r>
              <a:rPr spc="-265" dirty="0"/>
              <a:t> </a:t>
            </a:r>
            <a:r>
              <a:rPr spc="-10" dirty="0"/>
              <a:t>ANSWERS</a:t>
            </a:r>
          </a:p>
        </p:txBody>
      </p:sp>
      <p:sp>
        <p:nvSpPr>
          <p:cNvPr id="4" name="object 4">
            <a:extLst>
              <a:ext uri="{FF2B5EF4-FFF2-40B4-BE49-F238E27FC236}">
                <a16:creationId xmlns:a16="http://schemas.microsoft.com/office/drawing/2014/main" id="{48E013FA-9CC6-2BFE-B917-065A5D5F26A8}"/>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a:extLst>
              <a:ext uri="{FF2B5EF4-FFF2-40B4-BE49-F238E27FC236}">
                <a16:creationId xmlns:a16="http://schemas.microsoft.com/office/drawing/2014/main" id="{FA224514-ABE0-9BE1-A240-70DEB1780575}"/>
              </a:ext>
            </a:extLst>
          </p:cNvPr>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a:extLst>
              <a:ext uri="{FF2B5EF4-FFF2-40B4-BE49-F238E27FC236}">
                <a16:creationId xmlns:a16="http://schemas.microsoft.com/office/drawing/2014/main" id="{419F45B9-9A89-ED94-D335-8C4FF2DCC05E}"/>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a:extLst>
              <a:ext uri="{FF2B5EF4-FFF2-40B4-BE49-F238E27FC236}">
                <a16:creationId xmlns:a16="http://schemas.microsoft.com/office/drawing/2014/main" id="{18CA8F12-F2FE-6360-5E09-C812BEEA9394}"/>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F3FF00C2-F9B2-7FDF-7640-0D20B7059D6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30</a:t>
            </a:fld>
            <a:endParaRPr spc="-25" dirty="0"/>
          </a:p>
        </p:txBody>
      </p:sp>
      <p:sp>
        <p:nvSpPr>
          <p:cNvPr id="10" name="TextBox 9">
            <a:extLst>
              <a:ext uri="{FF2B5EF4-FFF2-40B4-BE49-F238E27FC236}">
                <a16:creationId xmlns:a16="http://schemas.microsoft.com/office/drawing/2014/main" id="{C0D4848A-35E0-E454-23EB-72B54ADD5378}"/>
              </a:ext>
            </a:extLst>
          </p:cNvPr>
          <p:cNvSpPr txBox="1"/>
          <p:nvPr/>
        </p:nvSpPr>
        <p:spPr>
          <a:xfrm>
            <a:off x="917574" y="1219200"/>
            <a:ext cx="11198225" cy="5262979"/>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3. Performance &amp; Results </a:t>
            </a:r>
          </a:p>
          <a:p>
            <a:r>
              <a:rPr lang="en-US" sz="2400" dirty="0">
                <a:latin typeface="Times New Roman" panose="02020603050405020304" pitchFamily="18" charset="0"/>
                <a:cs typeface="Times New Roman" panose="02020603050405020304" pitchFamily="18" charset="0"/>
              </a:rPr>
              <a:t>Q: What metrics did you use? </a:t>
            </a:r>
          </a:p>
          <a:p>
            <a:r>
              <a:rPr lang="en-US" sz="2400" dirty="0">
                <a:latin typeface="Times New Roman" panose="02020603050405020304" pitchFamily="18" charset="0"/>
                <a:cs typeface="Times New Roman" panose="02020603050405020304" pitchFamily="18" charset="0"/>
              </a:rPr>
              <a:t>A: Accuracy, Precision, Recall, and F1-score with confusion matrix analysis. </a:t>
            </a:r>
          </a:p>
          <a:p>
            <a:r>
              <a:rPr lang="en-US" sz="2400" dirty="0">
                <a:latin typeface="Times New Roman" panose="02020603050405020304" pitchFamily="18" charset="0"/>
                <a:cs typeface="Times New Roman" panose="02020603050405020304" pitchFamily="18" charset="0"/>
              </a:rPr>
              <a:t>Q: What results did you achieve? </a:t>
            </a:r>
          </a:p>
          <a:p>
            <a:r>
              <a:rPr lang="en-US" sz="2400" dirty="0">
                <a:latin typeface="Times New Roman" panose="02020603050405020304" pitchFamily="18" charset="0"/>
                <a:cs typeface="Times New Roman" panose="02020603050405020304" pitchFamily="18" charset="0"/>
              </a:rPr>
              <a:t>A: Achieved 96% accuracy, outperforming CNN baselines like </a:t>
            </a:r>
            <a:r>
              <a:rPr lang="en-US" sz="2400" dirty="0" err="1">
                <a:latin typeface="Times New Roman" panose="02020603050405020304" pitchFamily="18" charset="0"/>
                <a:cs typeface="Times New Roman" panose="02020603050405020304" pitchFamily="18" charset="0"/>
              </a:rPr>
              <a:t>ResNet</a:t>
            </a:r>
            <a:r>
              <a:rPr lang="en-US" sz="2400" dirty="0">
                <a:latin typeface="Times New Roman" panose="02020603050405020304" pitchFamily="18" charset="0"/>
                <a:cs typeface="Times New Roman" panose="02020603050405020304" pitchFamily="18" charset="0"/>
              </a:rPr>
              <a:t> or </a:t>
            </a:r>
            <a:r>
              <a:rPr lang="en-US" sz="2400" dirty="0" err="1">
                <a:latin typeface="Times New Roman" panose="02020603050405020304" pitchFamily="18" charset="0"/>
                <a:cs typeface="Times New Roman" panose="02020603050405020304" pitchFamily="18" charset="0"/>
              </a:rPr>
              <a:t>EfficientNet</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4. Remedy Recommendation Module </a:t>
            </a:r>
          </a:p>
          <a:p>
            <a:r>
              <a:rPr lang="en-US" sz="2400" dirty="0">
                <a:latin typeface="Times New Roman" panose="02020603050405020304" pitchFamily="18" charset="0"/>
                <a:cs typeface="Times New Roman" panose="02020603050405020304" pitchFamily="18" charset="0"/>
              </a:rPr>
              <a:t>Q: How do you ensure reliability? </a:t>
            </a:r>
          </a:p>
          <a:p>
            <a:r>
              <a:rPr lang="en-US" sz="2400" dirty="0">
                <a:latin typeface="Times New Roman" panose="02020603050405020304" pitchFamily="18" charset="0"/>
                <a:cs typeface="Times New Roman" panose="02020603050405020304" pitchFamily="18" charset="0"/>
              </a:rPr>
              <a:t>A: Summaries are curated and validated against agricultural data; no generative hallucination. </a:t>
            </a:r>
          </a:p>
          <a:p>
            <a:r>
              <a:rPr lang="en-US" sz="2400" dirty="0">
                <a:latin typeface="Times New Roman" panose="02020603050405020304" pitchFamily="18" charset="0"/>
                <a:cs typeface="Times New Roman" panose="02020603050405020304" pitchFamily="18" charset="0"/>
              </a:rPr>
              <a:t>Q: Is your system real-time? A: Yes, it classifies and provides remedies within seconds per image</a:t>
            </a:r>
          </a:p>
          <a:p>
            <a:r>
              <a:rPr lang="en-US" sz="2400" dirty="0">
                <a:latin typeface="Times New Roman" panose="02020603050405020304" pitchFamily="18" charset="0"/>
                <a:cs typeface="Times New Roman" panose="02020603050405020304" pitchFamily="18" charset="0"/>
              </a:rPr>
              <a:t>Q: How does it help farmers?</a:t>
            </a:r>
          </a:p>
          <a:p>
            <a:r>
              <a:rPr lang="en-US" sz="2400" dirty="0">
                <a:latin typeface="Times New Roman" panose="02020603050405020304" pitchFamily="18" charset="0"/>
                <a:cs typeface="Times New Roman" panose="02020603050405020304" pitchFamily="18" charset="0"/>
              </a:rPr>
              <a:t> A: Offers instant pest ID and trusted remedies, cutting pesticide misuse and improving yield.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92422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133600">
              <a:lnSpc>
                <a:spcPct val="100000"/>
              </a:lnSpc>
              <a:spcBef>
                <a:spcPts val="130"/>
              </a:spcBef>
            </a:pPr>
            <a:r>
              <a:rPr spc="-10" dirty="0"/>
              <a:t>ACKNOWLEGEMENTS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31</a:t>
            </a:fld>
            <a:endParaRPr spc="-25" dirty="0"/>
          </a:p>
        </p:txBody>
      </p:sp>
      <p:sp>
        <p:nvSpPr>
          <p:cNvPr id="10" name="TextBox 9">
            <a:extLst>
              <a:ext uri="{FF2B5EF4-FFF2-40B4-BE49-F238E27FC236}">
                <a16:creationId xmlns:a16="http://schemas.microsoft.com/office/drawing/2014/main" id="{D4273D1B-3FC2-D766-5D4E-91ADAC9AEA4C}"/>
              </a:ext>
            </a:extLst>
          </p:cNvPr>
          <p:cNvSpPr txBox="1"/>
          <p:nvPr/>
        </p:nvSpPr>
        <p:spPr>
          <a:xfrm>
            <a:off x="1295400" y="2967335"/>
            <a:ext cx="10515600" cy="1754326"/>
          </a:xfrm>
          <a:prstGeom prst="rect">
            <a:avLst/>
          </a:prstGeom>
          <a:noFill/>
        </p:spPr>
        <p:txBody>
          <a:bodyPr wrap="square">
            <a:spAutoFit/>
          </a:bodyPr>
          <a:lstStyle/>
          <a:p>
            <a:r>
              <a:rPr lang="en-US" sz="3600" dirty="0">
                <a:highlight>
                  <a:srgbClr val="C0C0C0"/>
                </a:highlight>
              </a:rPr>
              <a:t>I sincerely thank our Head of Department, Project Guide, and Faculty Members for their continuous support and guidance throughout this project</a:t>
            </a:r>
            <a:r>
              <a:rPr lang="en-US" sz="2400" dirty="0">
                <a:highlight>
                  <a:srgbClr val="C0C0C0"/>
                </a:highlight>
              </a:rPr>
              <a:t>.</a:t>
            </a:r>
            <a:endParaRPr lang="en-IN" sz="2400" dirty="0">
              <a:highlight>
                <a:srgbClr val="C0C0C0"/>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1877C-13E0-5A47-101F-6FE503F9523A}"/>
              </a:ext>
            </a:extLst>
          </p:cNvPr>
          <p:cNvSpPr>
            <a:spLocks noGrp="1"/>
          </p:cNvSpPr>
          <p:nvPr>
            <p:ph type="title"/>
          </p:nvPr>
        </p:nvSpPr>
        <p:spPr>
          <a:xfrm>
            <a:off x="1752601" y="609600"/>
            <a:ext cx="9067800" cy="4191000"/>
          </a:xfrm>
        </p:spPr>
        <p:txBody>
          <a:bodyPr anchor="b"/>
          <a:lstStyle/>
          <a:p>
            <a:pPr algn="ctr"/>
            <a:r>
              <a:rPr lang="en-US" sz="8000" dirty="0"/>
              <a:t>Thank you!</a:t>
            </a:r>
            <a:br>
              <a:rPr lang="en-US" sz="8000" dirty="0"/>
            </a:br>
            <a:endParaRPr lang="en-US" sz="8000" dirty="0"/>
          </a:p>
        </p:txBody>
      </p:sp>
      <p:sp>
        <p:nvSpPr>
          <p:cNvPr id="3" name="Text Placeholder 2">
            <a:extLst>
              <a:ext uri="{FF2B5EF4-FFF2-40B4-BE49-F238E27FC236}">
                <a16:creationId xmlns:a16="http://schemas.microsoft.com/office/drawing/2014/main" id="{852ED36B-52A1-7D93-AA74-613DAC3E33C4}"/>
              </a:ext>
            </a:extLst>
          </p:cNvPr>
          <p:cNvSpPr>
            <a:spLocks noGrp="1"/>
          </p:cNvSpPr>
          <p:nvPr>
            <p:ph type="body" idx="1"/>
          </p:nvPr>
        </p:nvSpPr>
        <p:spPr>
          <a:xfrm>
            <a:off x="8610600" y="3124200"/>
            <a:ext cx="1523999" cy="423193"/>
          </a:xfrm>
        </p:spPr>
        <p:txBody>
          <a:bodyPr/>
          <a:lstStyle/>
          <a:p>
            <a:r>
              <a:rPr lang="en-US" dirty="0"/>
              <a:t>.</a:t>
            </a:r>
          </a:p>
        </p:txBody>
      </p:sp>
    </p:spTree>
    <p:extLst>
      <p:ext uri="{BB962C8B-B14F-4D97-AF65-F5344CB8AC3E}">
        <p14:creationId xmlns:p14="http://schemas.microsoft.com/office/powerpoint/2010/main" val="1499516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TM04033937[[fn=Vapor Trail]]</Template>
  <TotalTime>2184</TotalTime>
  <Words>3384</Words>
  <Application>Microsoft Office PowerPoint</Application>
  <PresentationFormat>Widescreen</PresentationFormat>
  <Paragraphs>436</Paragraphs>
  <Slides>32</Slides>
  <Notes>1</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Department of Computer Science and Engineering INTELLIGENT PEST CLASSIFICATION AND REMEDY RECOMMENDATION SYSTEM USING VISION TRANSFORMERS AND DOMAIN-AWARE SUMMARIZATION</vt:lpstr>
      <vt:lpstr>OUTLINE</vt:lpstr>
      <vt:lpstr>ABSTRACT</vt:lpstr>
      <vt:lpstr>INTRODUCTION</vt:lpstr>
      <vt:lpstr>Motivation &amp; Core Contribution</vt:lpstr>
      <vt:lpstr>LITERATURE SURVEY</vt:lpstr>
      <vt:lpstr>PowerPoint Presentation</vt:lpstr>
      <vt:lpstr>LITERATURE SURVEY</vt:lpstr>
      <vt:lpstr>PowerPoint Presentation</vt:lpstr>
      <vt:lpstr>PowerPoint Presentation</vt:lpstr>
      <vt:lpstr>RESEARCH GAPS</vt:lpstr>
      <vt:lpstr>RESEARCH GAPS</vt:lpstr>
      <vt:lpstr>PROBLEM STATEMENT</vt:lpstr>
      <vt:lpstr>OBJECTIVES</vt:lpstr>
      <vt:lpstr>BLOCK DIAGRAM OR FLOW DIAGRAM</vt:lpstr>
      <vt:lpstr>METHODOLOGY</vt:lpstr>
      <vt:lpstr>METHODOLOGY</vt:lpstr>
      <vt:lpstr>PowerPoint Presentation</vt:lpstr>
      <vt:lpstr>PowerPoint Presentation</vt:lpstr>
      <vt:lpstr>PowerPoint Presentation</vt:lpstr>
      <vt:lpstr>PowerPoint Presentation</vt:lpstr>
      <vt:lpstr>IMPLEMENTATION</vt:lpstr>
      <vt:lpstr>RESULTS &amp; ANALYSIS</vt:lpstr>
      <vt:lpstr>PowerPoint Presentation</vt:lpstr>
      <vt:lpstr>CONCLUSION and FUTURE SCOPE</vt:lpstr>
      <vt:lpstr>CONCLUSION and FUTURE SCOPE</vt:lpstr>
      <vt:lpstr>REFERENCES</vt:lpstr>
      <vt:lpstr>PowerPoint Presentation</vt:lpstr>
      <vt:lpstr>QUESTIONS and ANSWERS</vt:lpstr>
      <vt:lpstr>QUESTIONS and ANSWERS</vt:lpstr>
      <vt:lpstr>ACKNOWLEGEMENTS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asritha khajjayam</dc:creator>
  <cp:lastModifiedBy>Satwi Janu</cp:lastModifiedBy>
  <cp:revision>7</cp:revision>
  <dcterms:created xsi:type="dcterms:W3CDTF">2025-11-08T13:05:15Z</dcterms:created>
  <dcterms:modified xsi:type="dcterms:W3CDTF">2026-02-04T09:50:14Z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2024-12-19T00:00:00Z</vt:filetime>
  </property>
  <property fmtid="{D5CDD505-2E9C-101B-9397-08002B2CF9AE}" pid="3" name="LastSaved">
    <vt:filetime>2025-11-08T00:00:00Z</vt:filetime>
  </property>
</Properties>
</file>